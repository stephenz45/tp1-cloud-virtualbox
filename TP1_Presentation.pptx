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d752ba7-92c3-9434-42ad-67318c06a4b0}">
          <p14:sldIdLst>
            <p14:sldId id="256"/>
            <p14:sldId id="257"/>
            <p14:sldId id="258"/>
            <p14:sldId id="259"/>
            <p14:sldId id="260"/>
          </p14:sldIdLst>
        </p14:section>
        <p14:section name="Introduction" id="{313730c4-efa3-0f38-d75f-75a17b11dce8}">
          <p14:sldIdLst/>
        </p14:section>
        <p14:section name="Introduction" id="{04c02a07-4bd4-105f-2054-51deda7c40f3}">
          <p14:sldIdLst/>
        </p14:section>
        <p14:section name="Introduction" id="{f22de43e-cb4d-1071-356b-5aa6abd41d89}">
          <p14:sldIdLst/>
        </p14:section>
        <p14:section name="Introduction" id="{0cca715e-2042-1964-3f91-94fd26b43de0}">
          <p14:sldIdLst/>
        </p14:section>
        <p14:section name="Partie 1" id="{176c8d2a-be87-1324-aa8e-f45b6cba248f}">
          <p14:sldIdLst>
            <p14:sldId id="261"/>
          </p14:sldIdLst>
        </p14:section>
        <p14:section name="Partie 2" id="{b939b798-c95a-5607-28df-df30e662b8c4}">
          <p14:sldIdLst>
            <p14:sldId id="262"/>
          </p14:sldIdLst>
        </p14:section>
        <p14:section name="Partie 3" id="{a7b0b896-c89f-eaf4-c326-28333758329b}">
          <p14:sldIdLst>
            <p14:sldId id="263"/>
            <p14:sldId id="264"/>
          </p14:sldIdLst>
        </p14:section>
        <p14:section name="Partie 3" id="{c4e7ccb2-33ca-6ee9-2331-6e211356d18c}">
          <p14:sldIdLst/>
        </p14:section>
        <p14:section name="Partie 4" id="{82ca4091-eaf2-1a8d-a145-013c3447b666}">
          <p14:sldIdLst>
            <p14:sldId id="265"/>
          </p14:sldIdLst>
        </p14:section>
        <p14:section name="Partie 5" id="{2e20ec6d-ff59-4e67-92e2-b2d38a3b6fef}">
          <p14:sldIdLst>
            <p14:sldId id="266"/>
            <p14:sldId id="267"/>
            <p14:sldId id="268"/>
          </p14:sldIdLst>
        </p14:section>
        <p14:section name="Partie 5" id="{ccbb02d7-6208-9afd-ff78-eb25d35293cf}">
          <p14:sldIdLst/>
        </p14:section>
        <p14:section name="Partie 5" id="{0844b824-3f2e-e50f-900f-131693609a2c}">
          <p14:sldIdLst/>
        </p14:section>
        <p14:section name="Partie 6" id="{6b00f8d4-8e57-255a-44b1-fde942a20c1a}">
          <p14:sldIdLst>
            <p14:sldId id="269"/>
            <p14:sldId id="270"/>
          </p14:sldIdLst>
        </p14:section>
        <p14:section name="Partie 6" id="{aedf8d0b-52af-5891-464e-9d45aa647144}">
          <p14:sldIdLst/>
        </p14:section>
        <p14:section name="Conclusion" id="{353c084e-5bd4-3a8f-aee2-0eaf7b73b653}">
          <p14:sldIdLst>
            <p14:sldId id="271"/>
          </p14:sldIdLst>
        </p14:section>
        <p14:section name="Fin" id="{4ac2b1de-5ce3-f74b-2489-1003ad042bb8}">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présentons le TP 1 d’Introduction au Cloud. Je suis TRA BI TRA Christian David, avec mon binôme Kouadio Yao Boffouo Siedou. Le but : refaire en local ce que fait un fournisseur cloud, c’est-à-dire créer une machine virtuelle et s’y connecter à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TP a six étapes : préparer le PC, vérifier l’image Ubuntu, créer la VM, installer Ubuntu Server, configurer le réseau et SSH, puis tester instantané et clone. Avant cela, quelques définitions pour que tout soit clair.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cloud IaaS loue des machines virtuelles à distance. La virtualisation fait tourner plusieurs machines sur un seul PC. L’hyperviseur crée et gère ces VM. Type 1 : il tourne directement sur le matériel, comme KVM chez les fournisseurs cloud. Type 2 : il tourne sur un système existant, comme VirtualBox sur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 l’image d’installation. SHA256 : une empreinte qui prouve que le fichier est intact. LTS : support long, 5 ans de mises à jour de sécurité. NAT : la VM sort par un routeur virtuel et l’hôte ne la voit pas. Redirection de port : le port 2222 de l’hôte mène au port 22 de la VM. SSH : connexion sécurisée à distance. Instantané : point de retour dans la même VM. Clone : copie indépendante.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schéma résume le TP. Depuis PowerShell, je tape ssh -p 2222 vers 127.0.0.1. VirtualBox redirige vers le port 22 de la VM, qui a l’adresse 10.0.2.15. La VM accède à Internet par la passerelle 10.0.2.2. À cause du NAT, l’hôte ne peut pas joindre la VM directement : la redirection de port est le seul accès.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virtualisation matérielle est activée dans le Gestionnaire des tâches. VirtualBox 7.2.20 est installé ; mon PC a 4 processeurs logiques et 16 Go de RAM. Hyper-V est actif sur Windows : ce n’est pas bloquant, mais cela peut ralentir la VM. VirtualBox est un hyperviseur de type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calculé l’empreinte de l’ISO avec Get-FileHash et je l’ai comparée à la ligne 5 du fichier SHA256SUMS, qui correspond à la version 26.04.1. Les deux sont identiques : l’image n’est ni corrompue ni modifiée. C’est pour cela qu’on vérifie avant d’installer.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VM s’appelle ubuntu-srv : 2 Go de mémoire, 2 processeurs, disque de 25 Go alloué dynamiquement, réseau en NAT. J’ai désactivé l’installation sans surveillance pour choisir moi-même chaque option. Un disque dynamique grandit à l’usage ; un disque fixe réserve tout de suite les 25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NAT, l’hôte n’atteint pas 10.0.2.15. J’ai donc ajouté une règle de redirection. L’interface l’avait nommée Rule 1 ; je l’ai recréée sous le nom ssh, car l’étape du clone utilise ce nom. Le port 2222 de l’hôte mène au port 22 de la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Choix de l’installation : clavier AZERTY, réseau en DHCP avec l’adresse 10.0.2.15, tout le disque en LVM, d’où un volume racine de 11,5 Go, utilisateur etudiant, serveur OpenSSH. La durée, environ 35 à 40 minutes, est une estimation à partir des heures de mes captures : je ne l’avais pas chronométrée. Une instance cloud démarre en quelques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L’adresse IP 10.0.2.15/24 est donnée par le serveur DHCP de VirtualBox. La passerelle 10.0.2.2 est le routeur NAT. Le DNS est 192.168.1.1, celui de mon réseau. Le ping vers ubuntu.com a reçu 3 réponses sur 3, donc Internet fonctionne.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commande systemctl status ssh indique active (running). La commande ss montre que sshd écoute sur le port 22, en IPv4 et en IPv6. Le serveur SSH est donc prêt à recevoir une connexion.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début, mon mot de passe SSH a été refusé. La cause probable est une différence de clavier ; j’ai redéfini le mot de passe avec passwd. Ensuite la connexion a fonctionné et scp a copié bonjour.txt. Avec une clé ed25519, je me connecte sans mot de passe. La clé privée reste sur mon PC et ne se partage jamais.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créé l’instantané apres-installation. Puis j’ai installé le paquet tree et créé un fichier, éteint la VM et restauré l’instantané : les deux ont disparu. Mon premier essai avec htop n’était pas concluant, car htop était déjà installé. Un instantané n’est pas une sauvegarde : il dépend du disque d’origine.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cloné la VM sous le nom ubuntu-clone, avec le port SSH 2223 et un nom d’hôte différent pour éviter les conflits. Le clone fait 6,24 Go et l’original 7,17 Go. Ma première suppression a échoué car la VM n’était pas encore éteinte ; elle a réussi après l’arrêt complet.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difficultés. Mot de passe SSH refusé : résolu avec passwd. Commandes tapées sur Windows au lieu de la VM : il faut toujours regarder l’invite. Suppression du clone refusée : attendre l’arrêt complet. Règle nommée Rule 1 : renommée ssh.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 VirtualBox crée et gère des VM ; SSH et la redirection de port donnent un accès distant ; on vérifie l’ISO et on préfère les clés aux mots de passe ; instantané et clone ressemblent aux snapshots et aux images du cloud. Merci de votre attention, nous sommes prêts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365760" y="4828032"/>
            <a:ext cx="6400800" cy="228600"/>
          </a:xfrm>
          <a:prstGeom prst="rect">
            <a:avLst/>
          </a:prstGeom>
          <a:noFill/>
          <a:ln/>
        </p:spPr>
        <p:txBody>
          <a:bodyPr wrap="square" lIns="0" tIns="0" rIns="0" bIns="0" rtlCol="0" anchor="ctr"/>
          <a:lstStyle/>
          <a:p>
            <a:pPr indent="0" marL="0">
              <a:buNone/>
            </a:pPr>
            <a:r>
              <a:rPr lang="en-US" sz="1000" dirty="0">
                <a:solidFill>
                  <a:schemeClr val="tx2"/>
                </a:solidFill>
              </a:rPr>
              <a:t>TP1 Cloud · L3 SI BDGL · TRA BI TRA C. D. &amp; Kouadio Y. B. S.</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005840"/>
            <a:ext cx="7863840" cy="1371600"/>
          </a:xfrm>
          <a:prstGeom prst="rect">
            <a:avLst/>
          </a:prstGeom>
          <a:noFill/>
          <a:ln/>
        </p:spPr>
        <p:txBody>
          <a:bodyPr wrap="square" lIns="0" tIns="0" rIns="0" bIns="0" rtlCol="0" anchor="t"/>
          <a:lstStyle/>
          <a:p>
            <a:pPr indent="0" marL="0">
              <a:buNone/>
            </a:pPr>
            <a:r>
              <a:rPr lang="en-US" sz="3600" b="1" dirty="0">
                <a:solidFill>
                  <a:schemeClr val="bg1"/>
                </a:solidFill>
              </a:rPr>
              <a:t>TP 1 : Installation de VirtualBox et création d’une VM Ubuntu</a:t>
            </a:r>
            <a:endParaRPr lang="en-US" sz="3600" dirty="0"/>
          </a:p>
        </p:txBody>
      </p:sp>
      <p:sp>
        <p:nvSpPr>
          <p:cNvPr id="3" name="Text 1"/>
          <p:cNvSpPr/>
          <p:nvPr/>
        </p:nvSpPr>
        <p:spPr>
          <a:xfrm>
            <a:off x="640080" y="2651760"/>
            <a:ext cx="7863840" cy="1828800"/>
          </a:xfrm>
          <a:prstGeom prst="rect">
            <a:avLst/>
          </a:prstGeom>
          <a:noFill/>
          <a:ln/>
        </p:spPr>
        <p:txBody>
          <a:bodyPr wrap="square" lIns="0" tIns="0" rIns="0" bIns="0" rtlCol="0" anchor="t"/>
          <a:lstStyle/>
          <a:p>
            <a:pPr indent="0" marL="0">
              <a:buNone/>
            </a:pPr>
            <a:r>
              <a:rPr lang="en-US" sz="1800" b="1" dirty="0">
                <a:solidFill>
                  <a:schemeClr val="accent1"/>
                </a:solidFill>
              </a:rPr>
              <a:t>Introduction au Cloud · L3 SI (BDGL)</a:t>
            </a:r>
            <a:endParaRPr lang="en-US" sz="1800" dirty="0"/>
          </a:p>
          <a:p>
            <a:pPr indent="0" marL="0">
              <a:buNone/>
            </a:pPr>
            <a:r>
              <a:rPr lang="en-US" sz="1800" dirty="0">
                <a:solidFill>
                  <a:schemeClr val="bg1"/>
                </a:solidFill>
              </a:rPr>
              <a:t> </a:t>
            </a:r>
            <a:endParaRPr lang="en-US" sz="1800" dirty="0"/>
          </a:p>
          <a:p>
            <a:pPr indent="0" marL="0">
              <a:buNone/>
            </a:pPr>
            <a:r>
              <a:rPr lang="en-US" sz="1800" dirty="0">
                <a:solidFill>
                  <a:schemeClr val="bg1"/>
                </a:solidFill>
              </a:rPr>
              <a:t>Présenté par : TRA BI TRA Christian David</a:t>
            </a:r>
            <a:endParaRPr lang="en-US" sz="1800" dirty="0"/>
          </a:p>
          <a:p>
            <a:pPr indent="0" marL="0">
              <a:buNone/>
            </a:pPr>
            <a:r>
              <a:rPr lang="en-US" sz="1800" dirty="0">
                <a:solidFill>
                  <a:schemeClr val="bg1"/>
                </a:solidFill>
              </a:rPr>
              <a:t>Binôme : Kouadio Yao Boffouo Siedou</a:t>
            </a:r>
            <a:endParaRPr lang="en-US" sz="1800" dirty="0"/>
          </a:p>
          <a:p>
            <a:pPr indent="0" marL="0">
              <a:buNone/>
            </a:pPr>
            <a:r>
              <a:rPr lang="en-US" sz="1800" dirty="0">
                <a:solidFill>
                  <a:schemeClr val="bg1"/>
                </a:solidFill>
              </a:rPr>
              <a:t>Octobre 2026</a:t>
            </a:r>
            <a:endParaRPr lang="en-US" sz="1800" dirty="0"/>
          </a:p>
        </p:txBody>
      </p:sp>
      <p:sp>
        <p:nvSpPr>
          <p:cNvPr id="4" name="accent titre"/>
          <p:cNvSpPr/>
          <p:nvPr/>
        </p:nvSpPr>
        <p:spPr>
          <a:xfrm>
            <a:off x="640080" y="640080"/>
            <a:ext cx="1097280" cy="109728"/>
          </a:xfrm>
          <a:prstGeom prst="rect">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Plan de la présentation</a:t>
            </a:r>
            <a:endParaRPr lang="en-US" sz="3000" dirty="0"/>
          </a:p>
        </p:txBody>
      </p:sp>
      <p:sp>
        <p:nvSpPr>
          <p:cNvPr id="3" name="num 1"/>
          <p:cNvSpPr/>
          <p:nvPr/>
        </p:nvSpPr>
        <p:spPr>
          <a:xfrm>
            <a:off x="457200" y="1143000"/>
            <a:ext cx="548640" cy="548640"/>
          </a:xfrm>
          <a:prstGeom prst="ellipse">
            <a:avLst/>
          </a:prstGeom>
          <a:solidFill>
            <a:schemeClr val="accent1"/>
          </a:solidFill>
          <a:ln w="12700">
            <a:solidFill>
              <a:schemeClr val="accent1"/>
            </a:solidFill>
            <a:prstDash val="solid"/>
          </a:ln>
        </p:spPr>
      </p:sp>
      <p:sp>
        <p:nvSpPr>
          <p:cNvPr id="4" name="n1"/>
          <p:cNvSpPr txBox="1"/>
          <p:nvPr/>
        </p:nvSpPr>
        <p:spPr>
          <a:xfrm>
            <a:off x="457200" y="11430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carte Préparer l’hôte et VirtualBox"/>
          <p:cNvSpPr/>
          <p:nvPr/>
        </p:nvSpPr>
        <p:spPr>
          <a:xfrm>
            <a:off x="365760" y="1828800"/>
            <a:ext cx="2651760" cy="548640"/>
          </a:xfrm>
          <a:prstGeom prst="roundRect">
            <a:avLst>
              <a:gd name="adj" fmla="val 13333"/>
            </a:avLst>
          </a:prstGeom>
          <a:solidFill>
            <a:schemeClr val="bg1"/>
          </a:solidFill>
          <a:ln w="19050">
            <a:solidFill>
              <a:schemeClr val="accent3"/>
            </a:solidFill>
            <a:prstDash val="solid"/>
          </a:ln>
        </p:spPr>
      </p:sp>
      <p:sp>
        <p:nvSpPr>
          <p:cNvPr id="6" name="repère Préparer l’hôte et VirtualBox"/>
          <p:cNvSpPr/>
          <p:nvPr/>
        </p:nvSpPr>
        <p:spPr>
          <a:xfrm>
            <a:off x="475488" y="1965960"/>
            <a:ext cx="64008" cy="274320"/>
          </a:xfrm>
          <a:prstGeom prst="rect">
            <a:avLst/>
          </a:prstGeom>
          <a:solidFill>
            <a:schemeClr val="accent3"/>
          </a:solidFill>
          <a:ln w="12700">
            <a:solidFill>
              <a:schemeClr val="accent3"/>
            </a:solidFill>
            <a:prstDash val="solid"/>
          </a:ln>
        </p:spPr>
      </p:sp>
      <p:sp>
        <p:nvSpPr>
          <p:cNvPr id="7" name="texte Préparer l’hôte et VirtualBox"/>
          <p:cNvSpPr txBox="1"/>
          <p:nvPr/>
        </p:nvSpPr>
        <p:spPr>
          <a:xfrm>
            <a:off x="640080" y="1874520"/>
            <a:ext cx="2286000" cy="457200"/>
          </a:xfrm>
          <a:prstGeom prst="rect">
            <a:avLst/>
          </a:prstGeom>
          <a:noFill/>
          <a:ln/>
        </p:spPr>
        <p:txBody>
          <a:bodyPr wrap="square" lIns="0" tIns="0" rIns="0" bIns="0" rtlCol="0" anchor="ctr"/>
          <a:lstStyle/>
          <a:p>
            <a:pPr indent="0" marL="0">
              <a:buNone/>
            </a:pPr>
            <a:r>
              <a:rPr lang="en-US" sz="1500" b="1" dirty="0">
                <a:solidFill>
                  <a:schemeClr val="tx1"/>
                </a:solidFill>
              </a:rPr>
              <a:t>Préparer l’hôte et VirtualBox</a:t>
            </a:r>
            <a:endParaRPr lang="en-US" sz="1500" dirty="0"/>
          </a:p>
        </p:txBody>
      </p:sp>
      <p:sp>
        <p:nvSpPr>
          <p:cNvPr id="8" name="num 2"/>
          <p:cNvSpPr/>
          <p:nvPr/>
        </p:nvSpPr>
        <p:spPr>
          <a:xfrm>
            <a:off x="3291840" y="1143000"/>
            <a:ext cx="548640" cy="548640"/>
          </a:xfrm>
          <a:prstGeom prst="ellipse">
            <a:avLst/>
          </a:prstGeom>
          <a:solidFill>
            <a:schemeClr val="accent1"/>
          </a:solidFill>
          <a:ln w="12700">
            <a:solidFill>
              <a:schemeClr val="accent1"/>
            </a:solidFill>
            <a:prstDash val="solid"/>
          </a:ln>
        </p:spPr>
      </p:sp>
      <p:sp>
        <p:nvSpPr>
          <p:cNvPr id="9" name="n2"/>
          <p:cNvSpPr txBox="1"/>
          <p:nvPr/>
        </p:nvSpPr>
        <p:spPr>
          <a:xfrm>
            <a:off x="3291840" y="11430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carte Télécharger et vérifier l’ISO"/>
          <p:cNvSpPr/>
          <p:nvPr/>
        </p:nvSpPr>
        <p:spPr>
          <a:xfrm>
            <a:off x="3200400" y="1828800"/>
            <a:ext cx="2651760" cy="548640"/>
          </a:xfrm>
          <a:prstGeom prst="roundRect">
            <a:avLst>
              <a:gd name="adj" fmla="val 13333"/>
            </a:avLst>
          </a:prstGeom>
          <a:solidFill>
            <a:schemeClr val="bg1"/>
          </a:solidFill>
          <a:ln w="19050">
            <a:solidFill>
              <a:schemeClr val="accent3"/>
            </a:solidFill>
            <a:prstDash val="solid"/>
          </a:ln>
        </p:spPr>
      </p:sp>
      <p:sp>
        <p:nvSpPr>
          <p:cNvPr id="11" name="repère Télécharger et vérifier l’ISO"/>
          <p:cNvSpPr/>
          <p:nvPr/>
        </p:nvSpPr>
        <p:spPr>
          <a:xfrm>
            <a:off x="3310128" y="1965960"/>
            <a:ext cx="64008" cy="274320"/>
          </a:xfrm>
          <a:prstGeom prst="rect">
            <a:avLst/>
          </a:prstGeom>
          <a:solidFill>
            <a:schemeClr val="accent3"/>
          </a:solidFill>
          <a:ln w="12700">
            <a:solidFill>
              <a:schemeClr val="accent3"/>
            </a:solidFill>
            <a:prstDash val="solid"/>
          </a:ln>
        </p:spPr>
      </p:sp>
      <p:sp>
        <p:nvSpPr>
          <p:cNvPr id="12" name="texte Télécharger et vérifier l’ISO"/>
          <p:cNvSpPr txBox="1"/>
          <p:nvPr/>
        </p:nvSpPr>
        <p:spPr>
          <a:xfrm>
            <a:off x="3474720" y="1874520"/>
            <a:ext cx="2286000" cy="457200"/>
          </a:xfrm>
          <a:prstGeom prst="rect">
            <a:avLst/>
          </a:prstGeom>
          <a:noFill/>
          <a:ln/>
        </p:spPr>
        <p:txBody>
          <a:bodyPr wrap="square" lIns="0" tIns="0" rIns="0" bIns="0" rtlCol="0" anchor="ctr"/>
          <a:lstStyle/>
          <a:p>
            <a:pPr indent="0" marL="0">
              <a:buNone/>
            </a:pPr>
            <a:r>
              <a:rPr lang="en-US" sz="1500" b="1" dirty="0">
                <a:solidFill>
                  <a:schemeClr val="tx1"/>
                </a:solidFill>
              </a:rPr>
              <a:t>Télécharger et vérifier l’ISO</a:t>
            </a:r>
            <a:endParaRPr lang="en-US" sz="1500" dirty="0"/>
          </a:p>
        </p:txBody>
      </p:sp>
      <p:sp>
        <p:nvSpPr>
          <p:cNvPr id="13" name="num 3"/>
          <p:cNvSpPr/>
          <p:nvPr/>
        </p:nvSpPr>
        <p:spPr>
          <a:xfrm>
            <a:off x="6126480" y="1143000"/>
            <a:ext cx="548640" cy="548640"/>
          </a:xfrm>
          <a:prstGeom prst="ellipse">
            <a:avLst/>
          </a:prstGeom>
          <a:solidFill>
            <a:schemeClr val="accent1"/>
          </a:solidFill>
          <a:ln w="12700">
            <a:solidFill>
              <a:schemeClr val="accent1"/>
            </a:solidFill>
            <a:prstDash val="solid"/>
          </a:ln>
        </p:spPr>
      </p:sp>
      <p:sp>
        <p:nvSpPr>
          <p:cNvPr id="14" name="n3"/>
          <p:cNvSpPr txBox="1"/>
          <p:nvPr/>
        </p:nvSpPr>
        <p:spPr>
          <a:xfrm>
            <a:off x="6126480" y="11430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carte Créer la machine virtuelle"/>
          <p:cNvSpPr/>
          <p:nvPr/>
        </p:nvSpPr>
        <p:spPr>
          <a:xfrm>
            <a:off x="6035040" y="1828800"/>
            <a:ext cx="2651760" cy="548640"/>
          </a:xfrm>
          <a:prstGeom prst="roundRect">
            <a:avLst>
              <a:gd name="adj" fmla="val 13333"/>
            </a:avLst>
          </a:prstGeom>
          <a:solidFill>
            <a:schemeClr val="bg1"/>
          </a:solidFill>
          <a:ln w="19050">
            <a:solidFill>
              <a:schemeClr val="accent3"/>
            </a:solidFill>
            <a:prstDash val="solid"/>
          </a:ln>
        </p:spPr>
      </p:sp>
      <p:sp>
        <p:nvSpPr>
          <p:cNvPr id="16" name="repère Créer la machine virtuelle"/>
          <p:cNvSpPr/>
          <p:nvPr/>
        </p:nvSpPr>
        <p:spPr>
          <a:xfrm>
            <a:off x="6144768" y="1965960"/>
            <a:ext cx="64008" cy="274320"/>
          </a:xfrm>
          <a:prstGeom prst="rect">
            <a:avLst/>
          </a:prstGeom>
          <a:solidFill>
            <a:schemeClr val="accent3"/>
          </a:solidFill>
          <a:ln w="12700">
            <a:solidFill>
              <a:schemeClr val="accent3"/>
            </a:solidFill>
            <a:prstDash val="solid"/>
          </a:ln>
        </p:spPr>
      </p:sp>
      <p:sp>
        <p:nvSpPr>
          <p:cNvPr id="17" name="texte Créer la machine virtuelle"/>
          <p:cNvSpPr txBox="1"/>
          <p:nvPr/>
        </p:nvSpPr>
        <p:spPr>
          <a:xfrm>
            <a:off x="6309360" y="1874520"/>
            <a:ext cx="2286000" cy="457200"/>
          </a:xfrm>
          <a:prstGeom prst="rect">
            <a:avLst/>
          </a:prstGeom>
          <a:noFill/>
          <a:ln/>
        </p:spPr>
        <p:txBody>
          <a:bodyPr wrap="square" lIns="0" tIns="0" rIns="0" bIns="0" rtlCol="0" anchor="ctr"/>
          <a:lstStyle/>
          <a:p>
            <a:pPr indent="0" marL="0">
              <a:buNone/>
            </a:pPr>
            <a:r>
              <a:rPr lang="en-US" sz="1500" b="1" dirty="0">
                <a:solidFill>
                  <a:schemeClr val="tx1"/>
                </a:solidFill>
              </a:rPr>
              <a:t>Créer la machine virtuelle</a:t>
            </a:r>
            <a:endParaRPr lang="en-US" sz="1500" dirty="0"/>
          </a:p>
        </p:txBody>
      </p:sp>
      <p:sp>
        <p:nvSpPr>
          <p:cNvPr id="18" name="num 4"/>
          <p:cNvSpPr/>
          <p:nvPr/>
        </p:nvSpPr>
        <p:spPr>
          <a:xfrm>
            <a:off x="457200" y="2560320"/>
            <a:ext cx="548640" cy="548640"/>
          </a:xfrm>
          <a:prstGeom prst="ellipse">
            <a:avLst/>
          </a:prstGeom>
          <a:solidFill>
            <a:schemeClr val="accent1"/>
          </a:solidFill>
          <a:ln w="12700">
            <a:solidFill>
              <a:schemeClr val="accent1"/>
            </a:solidFill>
            <a:prstDash val="solid"/>
          </a:ln>
        </p:spPr>
      </p:sp>
      <p:sp>
        <p:nvSpPr>
          <p:cNvPr id="19" name="n4"/>
          <p:cNvSpPr txBox="1"/>
          <p:nvPr/>
        </p:nvSpPr>
        <p:spPr>
          <a:xfrm>
            <a:off x="457200" y="2560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0" name="carte Installer Ubuntu Server"/>
          <p:cNvSpPr/>
          <p:nvPr/>
        </p:nvSpPr>
        <p:spPr>
          <a:xfrm>
            <a:off x="365760" y="3246120"/>
            <a:ext cx="2651760" cy="548640"/>
          </a:xfrm>
          <a:prstGeom prst="roundRect">
            <a:avLst>
              <a:gd name="adj" fmla="val 13333"/>
            </a:avLst>
          </a:prstGeom>
          <a:solidFill>
            <a:schemeClr val="bg1"/>
          </a:solidFill>
          <a:ln w="19050">
            <a:solidFill>
              <a:schemeClr val="accent3"/>
            </a:solidFill>
            <a:prstDash val="solid"/>
          </a:ln>
        </p:spPr>
      </p:sp>
      <p:sp>
        <p:nvSpPr>
          <p:cNvPr id="21" name="repère Installer Ubuntu Server"/>
          <p:cNvSpPr/>
          <p:nvPr/>
        </p:nvSpPr>
        <p:spPr>
          <a:xfrm>
            <a:off x="475488" y="3383280"/>
            <a:ext cx="64008" cy="274320"/>
          </a:xfrm>
          <a:prstGeom prst="rect">
            <a:avLst/>
          </a:prstGeom>
          <a:solidFill>
            <a:schemeClr val="accent3"/>
          </a:solidFill>
          <a:ln w="12700">
            <a:solidFill>
              <a:schemeClr val="accent3"/>
            </a:solidFill>
            <a:prstDash val="solid"/>
          </a:ln>
        </p:spPr>
      </p:sp>
      <p:sp>
        <p:nvSpPr>
          <p:cNvPr id="22" name="texte Installer Ubuntu Server"/>
          <p:cNvSpPr txBox="1"/>
          <p:nvPr/>
        </p:nvSpPr>
        <p:spPr>
          <a:xfrm>
            <a:off x="640080" y="3291840"/>
            <a:ext cx="2286000" cy="457200"/>
          </a:xfrm>
          <a:prstGeom prst="rect">
            <a:avLst/>
          </a:prstGeom>
          <a:noFill/>
          <a:ln/>
        </p:spPr>
        <p:txBody>
          <a:bodyPr wrap="square" lIns="0" tIns="0" rIns="0" bIns="0" rtlCol="0" anchor="ctr"/>
          <a:lstStyle/>
          <a:p>
            <a:pPr indent="0" marL="0">
              <a:buNone/>
            </a:pPr>
            <a:r>
              <a:rPr lang="en-US" sz="1500" b="1" dirty="0">
                <a:solidFill>
                  <a:schemeClr val="tx1"/>
                </a:solidFill>
              </a:rPr>
              <a:t>Installer Ubuntu Server</a:t>
            </a:r>
            <a:endParaRPr lang="en-US" sz="1500" dirty="0"/>
          </a:p>
        </p:txBody>
      </p:sp>
      <p:sp>
        <p:nvSpPr>
          <p:cNvPr id="23" name="num 5"/>
          <p:cNvSpPr/>
          <p:nvPr/>
        </p:nvSpPr>
        <p:spPr>
          <a:xfrm>
            <a:off x="3291840" y="2560320"/>
            <a:ext cx="548640" cy="548640"/>
          </a:xfrm>
          <a:prstGeom prst="ellipse">
            <a:avLst/>
          </a:prstGeom>
          <a:solidFill>
            <a:schemeClr val="accent1"/>
          </a:solidFill>
          <a:ln w="12700">
            <a:solidFill>
              <a:schemeClr val="accent1"/>
            </a:solidFill>
            <a:prstDash val="solid"/>
          </a:ln>
        </p:spPr>
      </p:sp>
      <p:sp>
        <p:nvSpPr>
          <p:cNvPr id="24" name="n5"/>
          <p:cNvSpPr txBox="1"/>
          <p:nvPr/>
        </p:nvSpPr>
        <p:spPr>
          <a:xfrm>
            <a:off x="3291840" y="2560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5" name="carte Réseau et accès SSH"/>
          <p:cNvSpPr/>
          <p:nvPr/>
        </p:nvSpPr>
        <p:spPr>
          <a:xfrm>
            <a:off x="3200400" y="3246120"/>
            <a:ext cx="2651760" cy="548640"/>
          </a:xfrm>
          <a:prstGeom prst="roundRect">
            <a:avLst>
              <a:gd name="adj" fmla="val 13333"/>
            </a:avLst>
          </a:prstGeom>
          <a:solidFill>
            <a:schemeClr val="bg1"/>
          </a:solidFill>
          <a:ln w="19050">
            <a:solidFill>
              <a:schemeClr val="accent3"/>
            </a:solidFill>
            <a:prstDash val="solid"/>
          </a:ln>
        </p:spPr>
      </p:sp>
      <p:sp>
        <p:nvSpPr>
          <p:cNvPr id="26" name="repère Réseau et accès SSH"/>
          <p:cNvSpPr/>
          <p:nvPr/>
        </p:nvSpPr>
        <p:spPr>
          <a:xfrm>
            <a:off x="3310128" y="3383280"/>
            <a:ext cx="64008" cy="274320"/>
          </a:xfrm>
          <a:prstGeom prst="rect">
            <a:avLst/>
          </a:prstGeom>
          <a:solidFill>
            <a:schemeClr val="accent3"/>
          </a:solidFill>
          <a:ln w="12700">
            <a:solidFill>
              <a:schemeClr val="accent3"/>
            </a:solidFill>
            <a:prstDash val="solid"/>
          </a:ln>
        </p:spPr>
      </p:sp>
      <p:sp>
        <p:nvSpPr>
          <p:cNvPr id="27" name="texte Réseau et accès SSH"/>
          <p:cNvSpPr txBox="1"/>
          <p:nvPr/>
        </p:nvSpPr>
        <p:spPr>
          <a:xfrm>
            <a:off x="3474720" y="3291840"/>
            <a:ext cx="2286000" cy="457200"/>
          </a:xfrm>
          <a:prstGeom prst="rect">
            <a:avLst/>
          </a:prstGeom>
          <a:noFill/>
          <a:ln/>
        </p:spPr>
        <p:txBody>
          <a:bodyPr wrap="square" lIns="0" tIns="0" rIns="0" bIns="0" rtlCol="0" anchor="ctr"/>
          <a:lstStyle/>
          <a:p>
            <a:pPr indent="0" marL="0">
              <a:buNone/>
            </a:pPr>
            <a:r>
              <a:rPr lang="en-US" sz="1500" b="1" dirty="0">
                <a:solidFill>
                  <a:schemeClr val="tx1"/>
                </a:solidFill>
              </a:rPr>
              <a:t>Réseau et accès SSH</a:t>
            </a:r>
            <a:endParaRPr lang="en-US" sz="1500" dirty="0"/>
          </a:p>
        </p:txBody>
      </p:sp>
      <p:sp>
        <p:nvSpPr>
          <p:cNvPr id="28" name="num 6"/>
          <p:cNvSpPr/>
          <p:nvPr/>
        </p:nvSpPr>
        <p:spPr>
          <a:xfrm>
            <a:off x="6126480" y="2560320"/>
            <a:ext cx="548640" cy="548640"/>
          </a:xfrm>
          <a:prstGeom prst="ellipse">
            <a:avLst/>
          </a:prstGeom>
          <a:solidFill>
            <a:schemeClr val="accent1"/>
          </a:solidFill>
          <a:ln w="12700">
            <a:solidFill>
              <a:schemeClr val="accent1"/>
            </a:solidFill>
            <a:prstDash val="solid"/>
          </a:ln>
        </p:spPr>
      </p:sp>
      <p:sp>
        <p:nvSpPr>
          <p:cNvPr id="29" name="n6"/>
          <p:cNvSpPr txBox="1"/>
          <p:nvPr/>
        </p:nvSpPr>
        <p:spPr>
          <a:xfrm>
            <a:off x="6126480" y="2560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0" name="carte Instantané et clone"/>
          <p:cNvSpPr/>
          <p:nvPr/>
        </p:nvSpPr>
        <p:spPr>
          <a:xfrm>
            <a:off x="6035040" y="3246120"/>
            <a:ext cx="2651760" cy="548640"/>
          </a:xfrm>
          <a:prstGeom prst="roundRect">
            <a:avLst>
              <a:gd name="adj" fmla="val 13333"/>
            </a:avLst>
          </a:prstGeom>
          <a:solidFill>
            <a:schemeClr val="bg1"/>
          </a:solidFill>
          <a:ln w="19050">
            <a:solidFill>
              <a:schemeClr val="accent3"/>
            </a:solidFill>
            <a:prstDash val="solid"/>
          </a:ln>
        </p:spPr>
      </p:sp>
      <p:sp>
        <p:nvSpPr>
          <p:cNvPr id="31" name="repère Instantané et clone"/>
          <p:cNvSpPr/>
          <p:nvPr/>
        </p:nvSpPr>
        <p:spPr>
          <a:xfrm>
            <a:off x="6144768" y="3383280"/>
            <a:ext cx="64008" cy="274320"/>
          </a:xfrm>
          <a:prstGeom prst="rect">
            <a:avLst/>
          </a:prstGeom>
          <a:solidFill>
            <a:schemeClr val="accent3"/>
          </a:solidFill>
          <a:ln w="12700">
            <a:solidFill>
              <a:schemeClr val="accent3"/>
            </a:solidFill>
            <a:prstDash val="solid"/>
          </a:ln>
        </p:spPr>
      </p:sp>
      <p:sp>
        <p:nvSpPr>
          <p:cNvPr id="32" name="texte Instantané et clone"/>
          <p:cNvSpPr txBox="1"/>
          <p:nvPr/>
        </p:nvSpPr>
        <p:spPr>
          <a:xfrm>
            <a:off x="6309360" y="3291840"/>
            <a:ext cx="2286000" cy="457200"/>
          </a:xfrm>
          <a:prstGeom prst="rect">
            <a:avLst/>
          </a:prstGeom>
          <a:noFill/>
          <a:ln/>
        </p:spPr>
        <p:txBody>
          <a:bodyPr wrap="square" lIns="0" tIns="0" rIns="0" bIns="0" rtlCol="0" anchor="ctr"/>
          <a:lstStyle/>
          <a:p>
            <a:pPr indent="0" marL="0">
              <a:buNone/>
            </a:pPr>
            <a:r>
              <a:rPr lang="en-US" sz="1500" b="1" dirty="0">
                <a:solidFill>
                  <a:schemeClr val="tx1"/>
                </a:solidFill>
              </a:rPr>
              <a:t>Instantané et clone</a:t>
            </a:r>
            <a:endParaRPr lang="en-US" sz="1500" dirty="0"/>
          </a:p>
        </p:txBody>
      </p:sp>
      <p:sp>
        <p:nvSpPr>
          <p:cNvPr id="33" name="objectif"/>
          <p:cNvSpPr txBox="1"/>
          <p:nvPr/>
        </p:nvSpPr>
        <p:spPr>
          <a:xfrm>
            <a:off x="365760" y="4069080"/>
            <a:ext cx="8412480" cy="457200"/>
          </a:xfrm>
          <a:prstGeom prst="rect">
            <a:avLst/>
          </a:prstGeom>
          <a:noFill/>
          <a:ln/>
        </p:spPr>
        <p:txBody>
          <a:bodyPr wrap="square" lIns="0" tIns="0" rIns="0" bIns="0" rtlCol="0" anchor="ctr"/>
          <a:lstStyle/>
          <a:p>
            <a:pPr indent="0" marL="0">
              <a:buNone/>
            </a:pPr>
            <a:r>
              <a:rPr lang="en-US" sz="1600" i="1" dirty="0">
                <a:solidFill>
                  <a:schemeClr val="tx2"/>
                </a:solidFill>
              </a:rPr>
              <a:t>Objectif : refaire en local ce que fait le cloud (IaaS) en quelques clics.</a:t>
            </a:r>
            <a:endParaRPr lang="en-US" sz="16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Termes importants (1/2)</a:t>
            </a:r>
            <a:endParaRPr lang="en-US" sz="3000" dirty="0"/>
          </a:p>
        </p:txBody>
      </p:sp>
      <p:sp>
        <p:nvSpPr>
          <p:cNvPr id="3" name="titre Type 1 (ex. KVM)"/>
          <p:cNvSpPr txBox="1"/>
          <p:nvPr/>
        </p:nvSpPr>
        <p:spPr>
          <a:xfrm>
            <a:off x="365760" y="960120"/>
            <a:ext cx="2286000" cy="320040"/>
          </a:xfrm>
          <a:prstGeom prst="rect">
            <a:avLst/>
          </a:prstGeom>
          <a:noFill/>
          <a:ln/>
        </p:spPr>
        <p:txBody>
          <a:bodyPr wrap="square" lIns="0" tIns="0" rIns="0" bIns="0" rtlCol="0" anchor="ctr"/>
          <a:lstStyle/>
          <a:p>
            <a:pPr algn="ctr" indent="0" marL="0">
              <a:buNone/>
            </a:pPr>
            <a:r>
              <a:rPr lang="en-US" sz="1400" b="1" dirty="0">
                <a:solidFill>
                  <a:schemeClr val="tx1"/>
                </a:solidFill>
              </a:rPr>
              <a:t>Type 1 (ex. KVM)</a:t>
            </a:r>
            <a:endParaRPr lang="en-US" sz="1400" dirty="0"/>
          </a:p>
        </p:txBody>
      </p:sp>
      <p:sp>
        <p:nvSpPr>
          <p:cNvPr id="4" name="Matériel"/>
          <p:cNvSpPr/>
          <p:nvPr/>
        </p:nvSpPr>
        <p:spPr>
          <a:xfrm>
            <a:off x="365760" y="3611880"/>
            <a:ext cx="2286000" cy="594360"/>
          </a:xfrm>
          <a:prstGeom prst="rect">
            <a:avLst/>
          </a:prstGeom>
          <a:solidFill>
            <a:schemeClr val="tx2"/>
          </a:solidFill>
          <a:ln w="12700">
            <a:solidFill>
              <a:schemeClr val="bg1"/>
            </a:solidFill>
            <a:prstDash val="solid"/>
          </a:ln>
        </p:spPr>
      </p:sp>
      <p:sp>
        <p:nvSpPr>
          <p:cNvPr id="5" name="t Matériel"/>
          <p:cNvSpPr txBox="1"/>
          <p:nvPr/>
        </p:nvSpPr>
        <p:spPr>
          <a:xfrm>
            <a:off x="365760" y="3611880"/>
            <a:ext cx="2286000" cy="594360"/>
          </a:xfrm>
          <a:prstGeom prst="rect">
            <a:avLst/>
          </a:prstGeom>
          <a:noFill/>
          <a:ln/>
        </p:spPr>
        <p:txBody>
          <a:bodyPr wrap="square" lIns="0" tIns="0" rIns="0" bIns="0" rtlCol="0" anchor="ctr"/>
          <a:lstStyle/>
          <a:p>
            <a:pPr algn="ctr" indent="0" marL="0">
              <a:buNone/>
            </a:pPr>
            <a:r>
              <a:rPr lang="en-US" sz="1300" b="1" dirty="0">
                <a:solidFill>
                  <a:schemeClr val="bg1"/>
                </a:solidFill>
              </a:rPr>
              <a:t>Matériel</a:t>
            </a:r>
            <a:endParaRPr lang="en-US" sz="1300" dirty="0"/>
          </a:p>
        </p:txBody>
      </p:sp>
      <p:sp>
        <p:nvSpPr>
          <p:cNvPr id="6" name="Hyperviseur"/>
          <p:cNvSpPr/>
          <p:nvPr/>
        </p:nvSpPr>
        <p:spPr>
          <a:xfrm>
            <a:off x="365760" y="2926080"/>
            <a:ext cx="2286000" cy="594360"/>
          </a:xfrm>
          <a:prstGeom prst="rect">
            <a:avLst/>
          </a:prstGeom>
          <a:solidFill>
            <a:schemeClr val="accent3"/>
          </a:solidFill>
          <a:ln w="12700">
            <a:solidFill>
              <a:schemeClr val="bg1"/>
            </a:solidFill>
            <a:prstDash val="solid"/>
          </a:ln>
        </p:spPr>
      </p:sp>
      <p:sp>
        <p:nvSpPr>
          <p:cNvPr id="7" name="t Hyperviseur"/>
          <p:cNvSpPr txBox="1"/>
          <p:nvPr/>
        </p:nvSpPr>
        <p:spPr>
          <a:xfrm>
            <a:off x="365760" y="2926080"/>
            <a:ext cx="2286000" cy="594360"/>
          </a:xfrm>
          <a:prstGeom prst="rect">
            <a:avLst/>
          </a:prstGeom>
          <a:noFill/>
          <a:ln/>
        </p:spPr>
        <p:txBody>
          <a:bodyPr wrap="square" lIns="0" tIns="0" rIns="0" bIns="0" rtlCol="0" anchor="ctr"/>
          <a:lstStyle/>
          <a:p>
            <a:pPr algn="ctr" indent="0" marL="0">
              <a:buNone/>
            </a:pPr>
            <a:r>
              <a:rPr lang="en-US" sz="1300" b="1" dirty="0">
                <a:solidFill>
                  <a:schemeClr val="bg1"/>
                </a:solidFill>
              </a:rPr>
              <a:t>Hyperviseur</a:t>
            </a:r>
            <a:endParaRPr lang="en-US" sz="1300" dirty="0"/>
          </a:p>
        </p:txBody>
      </p:sp>
      <p:sp>
        <p:nvSpPr>
          <p:cNvPr id="8" name="VM  |  VM"/>
          <p:cNvSpPr/>
          <p:nvPr/>
        </p:nvSpPr>
        <p:spPr>
          <a:xfrm>
            <a:off x="365760" y="2240280"/>
            <a:ext cx="2286000" cy="594360"/>
          </a:xfrm>
          <a:prstGeom prst="rect">
            <a:avLst/>
          </a:prstGeom>
          <a:solidFill>
            <a:schemeClr val="accent1"/>
          </a:solidFill>
          <a:ln w="12700">
            <a:solidFill>
              <a:schemeClr val="bg1"/>
            </a:solidFill>
            <a:prstDash val="solid"/>
          </a:ln>
        </p:spPr>
      </p:sp>
      <p:sp>
        <p:nvSpPr>
          <p:cNvPr id="9" name="t VM  |  VM"/>
          <p:cNvSpPr txBox="1"/>
          <p:nvPr/>
        </p:nvSpPr>
        <p:spPr>
          <a:xfrm>
            <a:off x="365760" y="2240280"/>
            <a:ext cx="2286000" cy="594360"/>
          </a:xfrm>
          <a:prstGeom prst="rect">
            <a:avLst/>
          </a:prstGeom>
          <a:noFill/>
          <a:ln/>
        </p:spPr>
        <p:txBody>
          <a:bodyPr wrap="square" lIns="0" tIns="0" rIns="0" bIns="0" rtlCol="0" anchor="ctr"/>
          <a:lstStyle/>
          <a:p>
            <a:pPr algn="ctr" indent="0" marL="0">
              <a:buNone/>
            </a:pPr>
            <a:r>
              <a:rPr lang="en-US" sz="1300" b="1" dirty="0">
                <a:solidFill>
                  <a:schemeClr val="bg1"/>
                </a:solidFill>
              </a:rPr>
              <a:t>VM  |  VM</a:t>
            </a:r>
            <a:endParaRPr lang="en-US" sz="1300" dirty="0"/>
          </a:p>
        </p:txBody>
      </p:sp>
      <p:sp>
        <p:nvSpPr>
          <p:cNvPr id="10" name="titre Type 2 (VirtualBox)"/>
          <p:cNvSpPr txBox="1"/>
          <p:nvPr/>
        </p:nvSpPr>
        <p:spPr>
          <a:xfrm>
            <a:off x="2834640" y="960120"/>
            <a:ext cx="2286000" cy="320040"/>
          </a:xfrm>
          <a:prstGeom prst="rect">
            <a:avLst/>
          </a:prstGeom>
          <a:noFill/>
          <a:ln/>
        </p:spPr>
        <p:txBody>
          <a:bodyPr wrap="square" lIns="0" tIns="0" rIns="0" bIns="0" rtlCol="0" anchor="ctr"/>
          <a:lstStyle/>
          <a:p>
            <a:pPr algn="ctr" indent="0" marL="0">
              <a:buNone/>
            </a:pPr>
            <a:r>
              <a:rPr lang="en-US" sz="1400" b="1" dirty="0">
                <a:solidFill>
                  <a:schemeClr val="tx1"/>
                </a:solidFill>
              </a:rPr>
              <a:t>Type 2 (VirtualBox)</a:t>
            </a:r>
            <a:endParaRPr lang="en-US" sz="1400" dirty="0"/>
          </a:p>
        </p:txBody>
      </p:sp>
      <p:sp>
        <p:nvSpPr>
          <p:cNvPr id="11" name="Matériel"/>
          <p:cNvSpPr/>
          <p:nvPr/>
        </p:nvSpPr>
        <p:spPr>
          <a:xfrm>
            <a:off x="2834640" y="3611880"/>
            <a:ext cx="2286000" cy="594360"/>
          </a:xfrm>
          <a:prstGeom prst="rect">
            <a:avLst/>
          </a:prstGeom>
          <a:solidFill>
            <a:schemeClr val="tx2"/>
          </a:solidFill>
          <a:ln w="12700">
            <a:solidFill>
              <a:schemeClr val="bg1"/>
            </a:solidFill>
            <a:prstDash val="solid"/>
          </a:ln>
        </p:spPr>
      </p:sp>
      <p:sp>
        <p:nvSpPr>
          <p:cNvPr id="12" name="t Matériel"/>
          <p:cNvSpPr txBox="1"/>
          <p:nvPr/>
        </p:nvSpPr>
        <p:spPr>
          <a:xfrm>
            <a:off x="2834640" y="3611880"/>
            <a:ext cx="2286000" cy="594360"/>
          </a:xfrm>
          <a:prstGeom prst="rect">
            <a:avLst/>
          </a:prstGeom>
          <a:noFill/>
          <a:ln/>
        </p:spPr>
        <p:txBody>
          <a:bodyPr wrap="square" lIns="0" tIns="0" rIns="0" bIns="0" rtlCol="0" anchor="ctr"/>
          <a:lstStyle/>
          <a:p>
            <a:pPr algn="ctr" indent="0" marL="0">
              <a:buNone/>
            </a:pPr>
            <a:r>
              <a:rPr lang="en-US" sz="1300" b="1" dirty="0">
                <a:solidFill>
                  <a:schemeClr val="bg1"/>
                </a:solidFill>
              </a:rPr>
              <a:t>Matériel</a:t>
            </a:r>
            <a:endParaRPr lang="en-US" sz="1300" dirty="0"/>
          </a:p>
        </p:txBody>
      </p:sp>
      <p:sp>
        <p:nvSpPr>
          <p:cNvPr id="13" name="Windows (hôte)"/>
          <p:cNvSpPr/>
          <p:nvPr/>
        </p:nvSpPr>
        <p:spPr>
          <a:xfrm>
            <a:off x="2834640" y="2926080"/>
            <a:ext cx="2286000" cy="594360"/>
          </a:xfrm>
          <a:prstGeom prst="rect">
            <a:avLst/>
          </a:prstGeom>
          <a:solidFill>
            <a:schemeClr val="accent4"/>
          </a:solidFill>
          <a:ln w="12700">
            <a:solidFill>
              <a:schemeClr val="bg1"/>
            </a:solidFill>
            <a:prstDash val="solid"/>
          </a:ln>
        </p:spPr>
      </p:sp>
      <p:sp>
        <p:nvSpPr>
          <p:cNvPr id="14" name="t Windows (hôte)"/>
          <p:cNvSpPr txBox="1"/>
          <p:nvPr/>
        </p:nvSpPr>
        <p:spPr>
          <a:xfrm>
            <a:off x="2834640" y="2926080"/>
            <a:ext cx="2286000" cy="594360"/>
          </a:xfrm>
          <a:prstGeom prst="rect">
            <a:avLst/>
          </a:prstGeom>
          <a:noFill/>
          <a:ln/>
        </p:spPr>
        <p:txBody>
          <a:bodyPr wrap="square" lIns="0" tIns="0" rIns="0" bIns="0" rtlCol="0" anchor="ctr"/>
          <a:lstStyle/>
          <a:p>
            <a:pPr algn="ctr" indent="0" marL="0">
              <a:buNone/>
            </a:pPr>
            <a:r>
              <a:rPr lang="en-US" sz="1300" b="1" dirty="0">
                <a:solidFill>
                  <a:schemeClr val="bg1"/>
                </a:solidFill>
              </a:rPr>
              <a:t>Windows (hôte)</a:t>
            </a:r>
            <a:endParaRPr lang="en-US" sz="1300" dirty="0"/>
          </a:p>
        </p:txBody>
      </p:sp>
      <p:sp>
        <p:nvSpPr>
          <p:cNvPr id="15" name="VirtualBox"/>
          <p:cNvSpPr/>
          <p:nvPr/>
        </p:nvSpPr>
        <p:spPr>
          <a:xfrm>
            <a:off x="2834640" y="2240280"/>
            <a:ext cx="2286000" cy="594360"/>
          </a:xfrm>
          <a:prstGeom prst="rect">
            <a:avLst/>
          </a:prstGeom>
          <a:solidFill>
            <a:schemeClr val="accent3"/>
          </a:solidFill>
          <a:ln w="12700">
            <a:solidFill>
              <a:schemeClr val="bg1"/>
            </a:solidFill>
            <a:prstDash val="solid"/>
          </a:ln>
        </p:spPr>
      </p:sp>
      <p:sp>
        <p:nvSpPr>
          <p:cNvPr id="16" name="t VirtualBox"/>
          <p:cNvSpPr txBox="1"/>
          <p:nvPr/>
        </p:nvSpPr>
        <p:spPr>
          <a:xfrm>
            <a:off x="2834640" y="2240280"/>
            <a:ext cx="2286000" cy="594360"/>
          </a:xfrm>
          <a:prstGeom prst="rect">
            <a:avLst/>
          </a:prstGeom>
          <a:noFill/>
          <a:ln/>
        </p:spPr>
        <p:txBody>
          <a:bodyPr wrap="square" lIns="0" tIns="0" rIns="0" bIns="0" rtlCol="0" anchor="ctr"/>
          <a:lstStyle/>
          <a:p>
            <a:pPr algn="ctr" indent="0" marL="0">
              <a:buNone/>
            </a:pPr>
            <a:r>
              <a:rPr lang="en-US" sz="1300" b="1" dirty="0">
                <a:solidFill>
                  <a:schemeClr val="bg1"/>
                </a:solidFill>
              </a:rPr>
              <a:t>VirtualBox</a:t>
            </a:r>
            <a:endParaRPr lang="en-US" sz="1300" dirty="0"/>
          </a:p>
        </p:txBody>
      </p:sp>
      <p:sp>
        <p:nvSpPr>
          <p:cNvPr id="17" name="VM  |  VM"/>
          <p:cNvSpPr/>
          <p:nvPr/>
        </p:nvSpPr>
        <p:spPr>
          <a:xfrm>
            <a:off x="2834640" y="1554480"/>
            <a:ext cx="2286000" cy="594360"/>
          </a:xfrm>
          <a:prstGeom prst="rect">
            <a:avLst/>
          </a:prstGeom>
          <a:solidFill>
            <a:schemeClr val="accent1"/>
          </a:solidFill>
          <a:ln w="12700">
            <a:solidFill>
              <a:schemeClr val="bg1"/>
            </a:solidFill>
            <a:prstDash val="solid"/>
          </a:ln>
        </p:spPr>
      </p:sp>
      <p:sp>
        <p:nvSpPr>
          <p:cNvPr id="18" name="t VM  |  VM"/>
          <p:cNvSpPr txBox="1"/>
          <p:nvPr/>
        </p:nvSpPr>
        <p:spPr>
          <a:xfrm>
            <a:off x="2834640" y="1554480"/>
            <a:ext cx="2286000" cy="594360"/>
          </a:xfrm>
          <a:prstGeom prst="rect">
            <a:avLst/>
          </a:prstGeom>
          <a:noFill/>
          <a:ln/>
        </p:spPr>
        <p:txBody>
          <a:bodyPr wrap="square" lIns="0" tIns="0" rIns="0" bIns="0" rtlCol="0" anchor="ctr"/>
          <a:lstStyle/>
          <a:p>
            <a:pPr algn="ctr" indent="0" marL="0">
              <a:buNone/>
            </a:pPr>
            <a:r>
              <a:rPr lang="en-US" sz="1300" b="1" dirty="0">
                <a:solidFill>
                  <a:schemeClr val="bg1"/>
                </a:solidFill>
              </a:rPr>
              <a:t>VM  |  VM</a:t>
            </a:r>
            <a:endParaRPr lang="en-US" sz="1300" dirty="0"/>
          </a:p>
        </p:txBody>
      </p:sp>
      <p:sp>
        <p:nvSpPr>
          <p:cNvPr id="19" name="carte Cloud IaaS"/>
          <p:cNvSpPr/>
          <p:nvPr/>
        </p:nvSpPr>
        <p:spPr>
          <a:xfrm>
            <a:off x="5349240" y="1005840"/>
            <a:ext cx="3429000" cy="822960"/>
          </a:xfrm>
          <a:prstGeom prst="roundRect">
            <a:avLst>
              <a:gd name="adj" fmla="val 8889"/>
            </a:avLst>
          </a:prstGeom>
          <a:solidFill>
            <a:schemeClr val="bg1"/>
          </a:solidFill>
          <a:ln w="19050">
            <a:solidFill>
              <a:schemeClr val="accent1"/>
            </a:solidFill>
            <a:prstDash val="solid"/>
          </a:ln>
        </p:spPr>
      </p:sp>
      <p:sp>
        <p:nvSpPr>
          <p:cNvPr id="20" name="repère Cloud IaaS"/>
          <p:cNvSpPr/>
          <p:nvPr/>
        </p:nvSpPr>
        <p:spPr>
          <a:xfrm>
            <a:off x="5458968" y="1143000"/>
            <a:ext cx="64008" cy="548640"/>
          </a:xfrm>
          <a:prstGeom prst="rect">
            <a:avLst/>
          </a:prstGeom>
          <a:solidFill>
            <a:schemeClr val="accent1"/>
          </a:solidFill>
          <a:ln w="12700">
            <a:solidFill>
              <a:schemeClr val="accent1"/>
            </a:solidFill>
            <a:prstDash val="solid"/>
          </a:ln>
        </p:spPr>
      </p:sp>
      <p:sp>
        <p:nvSpPr>
          <p:cNvPr id="21" name="texte Cloud IaaS"/>
          <p:cNvSpPr txBox="1"/>
          <p:nvPr/>
        </p:nvSpPr>
        <p:spPr>
          <a:xfrm>
            <a:off x="5623560" y="1051560"/>
            <a:ext cx="3063240" cy="731520"/>
          </a:xfrm>
          <a:prstGeom prst="rect">
            <a:avLst/>
          </a:prstGeom>
          <a:noFill/>
          <a:ln/>
        </p:spPr>
        <p:txBody>
          <a:bodyPr wrap="square" lIns="0" tIns="0" rIns="0" bIns="0" rtlCol="0" anchor="ctr"/>
          <a:lstStyle/>
          <a:p>
            <a:pPr indent="0" marL="0">
              <a:buNone/>
            </a:pPr>
            <a:r>
              <a:rPr lang="en-US" sz="1500" b="1" dirty="0">
                <a:solidFill>
                  <a:schemeClr val="tx1"/>
                </a:solidFill>
              </a:rPr>
              <a:t>Cloud IaaS</a:t>
            </a:r>
            <a:endParaRPr lang="en-US" sz="1500" dirty="0"/>
          </a:p>
          <a:p>
            <a:pPr indent="0" marL="0">
              <a:buNone/>
            </a:pPr>
            <a:r>
              <a:rPr lang="en-US" sz="1300" dirty="0">
                <a:solidFill>
                  <a:schemeClr val="tx2"/>
                </a:solidFill>
              </a:rPr>
              <a:t>louer des machines virtuelles à distance (AWS, Azure)</a:t>
            </a:r>
            <a:endParaRPr lang="en-US" sz="1500" dirty="0"/>
          </a:p>
        </p:txBody>
      </p:sp>
      <p:sp>
        <p:nvSpPr>
          <p:cNvPr id="22" name="carte Virtualisation"/>
          <p:cNvSpPr/>
          <p:nvPr/>
        </p:nvSpPr>
        <p:spPr>
          <a:xfrm>
            <a:off x="5349240" y="1920240"/>
            <a:ext cx="3429000" cy="822960"/>
          </a:xfrm>
          <a:prstGeom prst="roundRect">
            <a:avLst>
              <a:gd name="adj" fmla="val 8889"/>
            </a:avLst>
          </a:prstGeom>
          <a:solidFill>
            <a:schemeClr val="bg1"/>
          </a:solidFill>
          <a:ln w="19050">
            <a:solidFill>
              <a:schemeClr val="accent1"/>
            </a:solidFill>
            <a:prstDash val="solid"/>
          </a:ln>
        </p:spPr>
      </p:sp>
      <p:sp>
        <p:nvSpPr>
          <p:cNvPr id="23" name="repère Virtualisation"/>
          <p:cNvSpPr/>
          <p:nvPr/>
        </p:nvSpPr>
        <p:spPr>
          <a:xfrm>
            <a:off x="5458968" y="2057400"/>
            <a:ext cx="64008" cy="548640"/>
          </a:xfrm>
          <a:prstGeom prst="rect">
            <a:avLst/>
          </a:prstGeom>
          <a:solidFill>
            <a:schemeClr val="accent1"/>
          </a:solidFill>
          <a:ln w="12700">
            <a:solidFill>
              <a:schemeClr val="accent1"/>
            </a:solidFill>
            <a:prstDash val="solid"/>
          </a:ln>
        </p:spPr>
      </p:sp>
      <p:sp>
        <p:nvSpPr>
          <p:cNvPr id="24" name="texte Virtualisation"/>
          <p:cNvSpPr txBox="1"/>
          <p:nvPr/>
        </p:nvSpPr>
        <p:spPr>
          <a:xfrm>
            <a:off x="5623560" y="1965960"/>
            <a:ext cx="3063240" cy="731520"/>
          </a:xfrm>
          <a:prstGeom prst="rect">
            <a:avLst/>
          </a:prstGeom>
          <a:noFill/>
          <a:ln/>
        </p:spPr>
        <p:txBody>
          <a:bodyPr wrap="square" lIns="0" tIns="0" rIns="0" bIns="0" rtlCol="0" anchor="ctr"/>
          <a:lstStyle/>
          <a:p>
            <a:pPr indent="0" marL="0">
              <a:buNone/>
            </a:pPr>
            <a:r>
              <a:rPr lang="en-US" sz="1500" b="1" dirty="0">
                <a:solidFill>
                  <a:schemeClr val="tx1"/>
                </a:solidFill>
              </a:rPr>
              <a:t>Virtualisation</a:t>
            </a:r>
            <a:endParaRPr lang="en-US" sz="1500" dirty="0"/>
          </a:p>
          <a:p>
            <a:pPr indent="0" marL="0">
              <a:buNone/>
            </a:pPr>
            <a:r>
              <a:rPr lang="en-US" sz="1300" dirty="0">
                <a:solidFill>
                  <a:schemeClr val="tx2"/>
                </a:solidFill>
              </a:rPr>
              <a:t>plusieurs « machines » sur un seul PC physique</a:t>
            </a:r>
            <a:endParaRPr lang="en-US" sz="1500" dirty="0"/>
          </a:p>
        </p:txBody>
      </p:sp>
      <p:sp>
        <p:nvSpPr>
          <p:cNvPr id="25" name="carte Machine virtuelle"/>
          <p:cNvSpPr/>
          <p:nvPr/>
        </p:nvSpPr>
        <p:spPr>
          <a:xfrm>
            <a:off x="5349240" y="2834640"/>
            <a:ext cx="3429000" cy="822960"/>
          </a:xfrm>
          <a:prstGeom prst="roundRect">
            <a:avLst>
              <a:gd name="adj" fmla="val 8889"/>
            </a:avLst>
          </a:prstGeom>
          <a:solidFill>
            <a:schemeClr val="bg1"/>
          </a:solidFill>
          <a:ln w="19050">
            <a:solidFill>
              <a:schemeClr val="accent1"/>
            </a:solidFill>
            <a:prstDash val="solid"/>
          </a:ln>
        </p:spPr>
      </p:sp>
      <p:sp>
        <p:nvSpPr>
          <p:cNvPr id="26" name="repère Machine virtuelle"/>
          <p:cNvSpPr/>
          <p:nvPr/>
        </p:nvSpPr>
        <p:spPr>
          <a:xfrm>
            <a:off x="5458968" y="2971800"/>
            <a:ext cx="64008" cy="548640"/>
          </a:xfrm>
          <a:prstGeom prst="rect">
            <a:avLst/>
          </a:prstGeom>
          <a:solidFill>
            <a:schemeClr val="accent1"/>
          </a:solidFill>
          <a:ln w="12700">
            <a:solidFill>
              <a:schemeClr val="accent1"/>
            </a:solidFill>
            <a:prstDash val="solid"/>
          </a:ln>
        </p:spPr>
      </p:sp>
      <p:sp>
        <p:nvSpPr>
          <p:cNvPr id="27" name="texte Machine virtuelle"/>
          <p:cNvSpPr txBox="1"/>
          <p:nvPr/>
        </p:nvSpPr>
        <p:spPr>
          <a:xfrm>
            <a:off x="5623560" y="2880360"/>
            <a:ext cx="3063240" cy="731520"/>
          </a:xfrm>
          <a:prstGeom prst="rect">
            <a:avLst/>
          </a:prstGeom>
          <a:noFill/>
          <a:ln/>
        </p:spPr>
        <p:txBody>
          <a:bodyPr wrap="square" lIns="0" tIns="0" rIns="0" bIns="0" rtlCol="0" anchor="ctr"/>
          <a:lstStyle/>
          <a:p>
            <a:pPr indent="0" marL="0">
              <a:buNone/>
            </a:pPr>
            <a:r>
              <a:rPr lang="en-US" sz="1500" b="1" dirty="0">
                <a:solidFill>
                  <a:schemeClr val="tx1"/>
                </a:solidFill>
              </a:rPr>
              <a:t>Machine virtuelle</a:t>
            </a:r>
            <a:endParaRPr lang="en-US" sz="1500" dirty="0"/>
          </a:p>
          <a:p>
            <a:pPr indent="0" marL="0">
              <a:buNone/>
            </a:pPr>
            <a:r>
              <a:rPr lang="en-US" sz="1300" dirty="0">
                <a:solidFill>
                  <a:schemeClr val="tx2"/>
                </a:solidFill>
              </a:rPr>
              <a:t>ordinateur simulé, avec son propre système</a:t>
            </a:r>
            <a:endParaRPr lang="en-US" sz="1500" dirty="0"/>
          </a:p>
        </p:txBody>
      </p:sp>
      <p:sp>
        <p:nvSpPr>
          <p:cNvPr id="28" name="carte Hyperviseur"/>
          <p:cNvSpPr/>
          <p:nvPr/>
        </p:nvSpPr>
        <p:spPr>
          <a:xfrm>
            <a:off x="5349240" y="3749040"/>
            <a:ext cx="3429000" cy="822960"/>
          </a:xfrm>
          <a:prstGeom prst="roundRect">
            <a:avLst>
              <a:gd name="adj" fmla="val 8889"/>
            </a:avLst>
          </a:prstGeom>
          <a:solidFill>
            <a:schemeClr val="bg1"/>
          </a:solidFill>
          <a:ln w="19050">
            <a:solidFill>
              <a:schemeClr val="accent1"/>
            </a:solidFill>
            <a:prstDash val="solid"/>
          </a:ln>
        </p:spPr>
      </p:sp>
      <p:sp>
        <p:nvSpPr>
          <p:cNvPr id="29" name="repère Hyperviseur"/>
          <p:cNvSpPr/>
          <p:nvPr/>
        </p:nvSpPr>
        <p:spPr>
          <a:xfrm>
            <a:off x="5458968" y="3886200"/>
            <a:ext cx="64008" cy="548640"/>
          </a:xfrm>
          <a:prstGeom prst="rect">
            <a:avLst/>
          </a:prstGeom>
          <a:solidFill>
            <a:schemeClr val="accent1"/>
          </a:solidFill>
          <a:ln w="12700">
            <a:solidFill>
              <a:schemeClr val="accent1"/>
            </a:solidFill>
            <a:prstDash val="solid"/>
          </a:ln>
        </p:spPr>
      </p:sp>
      <p:sp>
        <p:nvSpPr>
          <p:cNvPr id="30" name="texte Hyperviseur"/>
          <p:cNvSpPr txBox="1"/>
          <p:nvPr/>
        </p:nvSpPr>
        <p:spPr>
          <a:xfrm>
            <a:off x="5623560" y="3794760"/>
            <a:ext cx="3063240" cy="731520"/>
          </a:xfrm>
          <a:prstGeom prst="rect">
            <a:avLst/>
          </a:prstGeom>
          <a:noFill/>
          <a:ln/>
        </p:spPr>
        <p:txBody>
          <a:bodyPr wrap="square" lIns="0" tIns="0" rIns="0" bIns="0" rtlCol="0" anchor="ctr"/>
          <a:lstStyle/>
          <a:p>
            <a:pPr indent="0" marL="0">
              <a:buNone/>
            </a:pPr>
            <a:r>
              <a:rPr lang="en-US" sz="1500" b="1" dirty="0">
                <a:solidFill>
                  <a:schemeClr val="tx1"/>
                </a:solidFill>
              </a:rPr>
              <a:t>Hyperviseur</a:t>
            </a:r>
            <a:endParaRPr lang="en-US" sz="1500" dirty="0"/>
          </a:p>
          <a:p>
            <a:pPr indent="0" marL="0">
              <a:buNone/>
            </a:pPr>
            <a:r>
              <a:rPr lang="en-US" sz="1300" dirty="0">
                <a:solidFill>
                  <a:schemeClr val="tx2"/>
                </a:solidFill>
              </a:rPr>
              <a:t>logiciel qui crée et gère les VM</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Termes importants (2/2)</a:t>
            </a:r>
            <a:endParaRPr lang="en-US" sz="3000" dirty="0"/>
          </a:p>
        </p:txBody>
      </p:sp>
      <p:sp>
        <p:nvSpPr>
          <p:cNvPr id="3" name="carte ISO"/>
          <p:cNvSpPr/>
          <p:nvPr/>
        </p:nvSpPr>
        <p:spPr>
          <a:xfrm>
            <a:off x="365760" y="960120"/>
            <a:ext cx="4114800" cy="868680"/>
          </a:xfrm>
          <a:prstGeom prst="roundRect">
            <a:avLst>
              <a:gd name="adj" fmla="val 8421"/>
            </a:avLst>
          </a:prstGeom>
          <a:solidFill>
            <a:schemeClr val="bg1"/>
          </a:solidFill>
          <a:ln w="19050">
            <a:solidFill>
              <a:schemeClr val="accent1"/>
            </a:solidFill>
            <a:prstDash val="solid"/>
          </a:ln>
        </p:spPr>
      </p:sp>
      <p:sp>
        <p:nvSpPr>
          <p:cNvPr id="4" name="repère ISO"/>
          <p:cNvSpPr/>
          <p:nvPr/>
        </p:nvSpPr>
        <p:spPr>
          <a:xfrm>
            <a:off x="475488" y="1097280"/>
            <a:ext cx="64008" cy="594360"/>
          </a:xfrm>
          <a:prstGeom prst="rect">
            <a:avLst/>
          </a:prstGeom>
          <a:solidFill>
            <a:schemeClr val="accent1"/>
          </a:solidFill>
          <a:ln w="12700">
            <a:solidFill>
              <a:schemeClr val="accent1"/>
            </a:solidFill>
            <a:prstDash val="solid"/>
          </a:ln>
        </p:spPr>
      </p:sp>
      <p:sp>
        <p:nvSpPr>
          <p:cNvPr id="5" name="texte ISO"/>
          <p:cNvSpPr txBox="1"/>
          <p:nvPr/>
        </p:nvSpPr>
        <p:spPr>
          <a:xfrm>
            <a:off x="640080" y="1005840"/>
            <a:ext cx="3749040" cy="777240"/>
          </a:xfrm>
          <a:prstGeom prst="rect">
            <a:avLst/>
          </a:prstGeom>
          <a:noFill/>
          <a:ln/>
        </p:spPr>
        <p:txBody>
          <a:bodyPr wrap="square" lIns="0" tIns="0" rIns="0" bIns="0" rtlCol="0" anchor="ctr"/>
          <a:lstStyle/>
          <a:p>
            <a:pPr indent="0" marL="0">
              <a:buNone/>
            </a:pPr>
            <a:r>
              <a:rPr lang="en-US" sz="1500" b="1" dirty="0">
                <a:solidFill>
                  <a:schemeClr val="tx1"/>
                </a:solidFill>
              </a:rPr>
              <a:t>ISO</a:t>
            </a:r>
            <a:endParaRPr lang="en-US" sz="1500" dirty="0"/>
          </a:p>
          <a:p>
            <a:pPr indent="0" marL="0">
              <a:buNone/>
            </a:pPr>
            <a:r>
              <a:rPr lang="en-US" sz="1300" dirty="0">
                <a:solidFill>
                  <a:schemeClr val="tx2"/>
                </a:solidFill>
              </a:rPr>
              <a:t>image disque pour installer le système</a:t>
            </a:r>
            <a:endParaRPr lang="en-US" sz="1500" dirty="0"/>
          </a:p>
        </p:txBody>
      </p:sp>
      <p:sp>
        <p:nvSpPr>
          <p:cNvPr id="6" name="carte SHA256"/>
          <p:cNvSpPr/>
          <p:nvPr/>
        </p:nvSpPr>
        <p:spPr>
          <a:xfrm>
            <a:off x="4663440" y="960120"/>
            <a:ext cx="4114800" cy="868680"/>
          </a:xfrm>
          <a:prstGeom prst="roundRect">
            <a:avLst>
              <a:gd name="adj" fmla="val 8421"/>
            </a:avLst>
          </a:prstGeom>
          <a:solidFill>
            <a:schemeClr val="bg1"/>
          </a:solidFill>
          <a:ln w="19050">
            <a:solidFill>
              <a:schemeClr val="accent3"/>
            </a:solidFill>
            <a:prstDash val="solid"/>
          </a:ln>
        </p:spPr>
      </p:sp>
      <p:sp>
        <p:nvSpPr>
          <p:cNvPr id="7" name="repère SHA256"/>
          <p:cNvSpPr/>
          <p:nvPr/>
        </p:nvSpPr>
        <p:spPr>
          <a:xfrm>
            <a:off x="4773168" y="1097280"/>
            <a:ext cx="64008" cy="594360"/>
          </a:xfrm>
          <a:prstGeom prst="rect">
            <a:avLst/>
          </a:prstGeom>
          <a:solidFill>
            <a:schemeClr val="accent3"/>
          </a:solidFill>
          <a:ln w="12700">
            <a:solidFill>
              <a:schemeClr val="accent3"/>
            </a:solidFill>
            <a:prstDash val="solid"/>
          </a:ln>
        </p:spPr>
      </p:sp>
      <p:sp>
        <p:nvSpPr>
          <p:cNvPr id="8" name="texte SHA256"/>
          <p:cNvSpPr txBox="1"/>
          <p:nvPr/>
        </p:nvSpPr>
        <p:spPr>
          <a:xfrm>
            <a:off x="4937760" y="1005840"/>
            <a:ext cx="3749040" cy="777240"/>
          </a:xfrm>
          <a:prstGeom prst="rect">
            <a:avLst/>
          </a:prstGeom>
          <a:noFill/>
          <a:ln/>
        </p:spPr>
        <p:txBody>
          <a:bodyPr wrap="square" lIns="0" tIns="0" rIns="0" bIns="0" rtlCol="0" anchor="ctr"/>
          <a:lstStyle/>
          <a:p>
            <a:pPr indent="0" marL="0">
              <a:buNone/>
            </a:pPr>
            <a:r>
              <a:rPr lang="en-US" sz="1500" b="1" dirty="0">
                <a:solidFill>
                  <a:schemeClr val="tx1"/>
                </a:solidFill>
              </a:rPr>
              <a:t>SHA256</a:t>
            </a:r>
            <a:endParaRPr lang="en-US" sz="1500" dirty="0"/>
          </a:p>
          <a:p>
            <a:pPr indent="0" marL="0">
              <a:buNone/>
            </a:pPr>
            <a:r>
              <a:rPr lang="en-US" sz="1300" dirty="0">
                <a:solidFill>
                  <a:schemeClr val="tx2"/>
                </a:solidFill>
              </a:rPr>
              <a:t>empreinte qui prouve qu’un fichier est intact</a:t>
            </a:r>
            <a:endParaRPr lang="en-US" sz="1500" dirty="0"/>
          </a:p>
        </p:txBody>
      </p:sp>
      <p:sp>
        <p:nvSpPr>
          <p:cNvPr id="9" name="carte LTS"/>
          <p:cNvSpPr/>
          <p:nvPr/>
        </p:nvSpPr>
        <p:spPr>
          <a:xfrm>
            <a:off x="365760" y="1920240"/>
            <a:ext cx="4114800" cy="868680"/>
          </a:xfrm>
          <a:prstGeom prst="roundRect">
            <a:avLst>
              <a:gd name="adj" fmla="val 8421"/>
            </a:avLst>
          </a:prstGeom>
          <a:solidFill>
            <a:schemeClr val="bg1"/>
          </a:solidFill>
          <a:ln w="19050">
            <a:solidFill>
              <a:schemeClr val="accent1"/>
            </a:solidFill>
            <a:prstDash val="solid"/>
          </a:ln>
        </p:spPr>
      </p:sp>
      <p:sp>
        <p:nvSpPr>
          <p:cNvPr id="10" name="repère LTS"/>
          <p:cNvSpPr/>
          <p:nvPr/>
        </p:nvSpPr>
        <p:spPr>
          <a:xfrm>
            <a:off x="475488" y="2057400"/>
            <a:ext cx="64008" cy="594360"/>
          </a:xfrm>
          <a:prstGeom prst="rect">
            <a:avLst/>
          </a:prstGeom>
          <a:solidFill>
            <a:schemeClr val="accent1"/>
          </a:solidFill>
          <a:ln w="12700">
            <a:solidFill>
              <a:schemeClr val="accent1"/>
            </a:solidFill>
            <a:prstDash val="solid"/>
          </a:ln>
        </p:spPr>
      </p:sp>
      <p:sp>
        <p:nvSpPr>
          <p:cNvPr id="11" name="texte LTS"/>
          <p:cNvSpPr txBox="1"/>
          <p:nvPr/>
        </p:nvSpPr>
        <p:spPr>
          <a:xfrm>
            <a:off x="640080" y="1965960"/>
            <a:ext cx="3749040" cy="777240"/>
          </a:xfrm>
          <a:prstGeom prst="rect">
            <a:avLst/>
          </a:prstGeom>
          <a:noFill/>
          <a:ln/>
        </p:spPr>
        <p:txBody>
          <a:bodyPr wrap="square" lIns="0" tIns="0" rIns="0" bIns="0" rtlCol="0" anchor="ctr"/>
          <a:lstStyle/>
          <a:p>
            <a:pPr indent="0" marL="0">
              <a:buNone/>
            </a:pPr>
            <a:r>
              <a:rPr lang="en-US" sz="1500" b="1" dirty="0">
                <a:solidFill>
                  <a:schemeClr val="tx1"/>
                </a:solidFill>
              </a:rPr>
              <a:t>LTS</a:t>
            </a:r>
            <a:endParaRPr lang="en-US" sz="1500" dirty="0"/>
          </a:p>
          <a:p>
            <a:pPr indent="0" marL="0">
              <a:buNone/>
            </a:pPr>
            <a:r>
              <a:rPr lang="en-US" sz="1300" dirty="0">
                <a:solidFill>
                  <a:schemeClr val="tx2"/>
                </a:solidFill>
              </a:rPr>
              <a:t>Ubuntu à support long : 5 ans de sécurité</a:t>
            </a:r>
            <a:endParaRPr lang="en-US" sz="1500" dirty="0"/>
          </a:p>
        </p:txBody>
      </p:sp>
      <p:sp>
        <p:nvSpPr>
          <p:cNvPr id="12" name="carte NAT"/>
          <p:cNvSpPr/>
          <p:nvPr/>
        </p:nvSpPr>
        <p:spPr>
          <a:xfrm>
            <a:off x="4663440" y="1920240"/>
            <a:ext cx="4114800" cy="868680"/>
          </a:xfrm>
          <a:prstGeom prst="roundRect">
            <a:avLst>
              <a:gd name="adj" fmla="val 8421"/>
            </a:avLst>
          </a:prstGeom>
          <a:solidFill>
            <a:schemeClr val="bg1"/>
          </a:solidFill>
          <a:ln w="19050">
            <a:solidFill>
              <a:schemeClr val="accent3"/>
            </a:solidFill>
            <a:prstDash val="solid"/>
          </a:ln>
        </p:spPr>
      </p:sp>
      <p:sp>
        <p:nvSpPr>
          <p:cNvPr id="13" name="repère NAT"/>
          <p:cNvSpPr/>
          <p:nvPr/>
        </p:nvSpPr>
        <p:spPr>
          <a:xfrm>
            <a:off x="4773168" y="2057400"/>
            <a:ext cx="64008" cy="594360"/>
          </a:xfrm>
          <a:prstGeom prst="rect">
            <a:avLst/>
          </a:prstGeom>
          <a:solidFill>
            <a:schemeClr val="accent3"/>
          </a:solidFill>
          <a:ln w="12700">
            <a:solidFill>
              <a:schemeClr val="accent3"/>
            </a:solidFill>
            <a:prstDash val="solid"/>
          </a:ln>
        </p:spPr>
      </p:sp>
      <p:sp>
        <p:nvSpPr>
          <p:cNvPr id="14" name="texte NAT"/>
          <p:cNvSpPr txBox="1"/>
          <p:nvPr/>
        </p:nvSpPr>
        <p:spPr>
          <a:xfrm>
            <a:off x="4937760" y="1965960"/>
            <a:ext cx="3749040" cy="777240"/>
          </a:xfrm>
          <a:prstGeom prst="rect">
            <a:avLst/>
          </a:prstGeom>
          <a:noFill/>
          <a:ln/>
        </p:spPr>
        <p:txBody>
          <a:bodyPr wrap="square" lIns="0" tIns="0" rIns="0" bIns="0" rtlCol="0" anchor="ctr"/>
          <a:lstStyle/>
          <a:p>
            <a:pPr indent="0" marL="0">
              <a:buNone/>
            </a:pPr>
            <a:r>
              <a:rPr lang="en-US" sz="1500" b="1" dirty="0">
                <a:solidFill>
                  <a:schemeClr val="tx1"/>
                </a:solidFill>
              </a:rPr>
              <a:t>NAT</a:t>
            </a:r>
            <a:endParaRPr lang="en-US" sz="1500" dirty="0"/>
          </a:p>
          <a:p>
            <a:pPr indent="0" marL="0">
              <a:buNone/>
            </a:pPr>
            <a:r>
              <a:rPr lang="en-US" sz="1300" dirty="0">
                <a:solidFill>
                  <a:schemeClr val="tx2"/>
                </a:solidFill>
              </a:rPr>
              <a:t>la VM sort par un routeur virtuel, invisible de l’hôte</a:t>
            </a:r>
            <a:endParaRPr lang="en-US" sz="1500" dirty="0"/>
          </a:p>
        </p:txBody>
      </p:sp>
      <p:sp>
        <p:nvSpPr>
          <p:cNvPr id="15" name="carte Redirection de port"/>
          <p:cNvSpPr/>
          <p:nvPr/>
        </p:nvSpPr>
        <p:spPr>
          <a:xfrm>
            <a:off x="365760" y="2880360"/>
            <a:ext cx="4114800" cy="868680"/>
          </a:xfrm>
          <a:prstGeom prst="roundRect">
            <a:avLst>
              <a:gd name="adj" fmla="val 8421"/>
            </a:avLst>
          </a:prstGeom>
          <a:solidFill>
            <a:schemeClr val="bg1"/>
          </a:solidFill>
          <a:ln w="19050">
            <a:solidFill>
              <a:schemeClr val="accent1"/>
            </a:solidFill>
            <a:prstDash val="solid"/>
          </a:ln>
        </p:spPr>
      </p:sp>
      <p:sp>
        <p:nvSpPr>
          <p:cNvPr id="16" name="repère Redirection de port"/>
          <p:cNvSpPr/>
          <p:nvPr/>
        </p:nvSpPr>
        <p:spPr>
          <a:xfrm>
            <a:off x="475488" y="3017520"/>
            <a:ext cx="64008" cy="594360"/>
          </a:xfrm>
          <a:prstGeom prst="rect">
            <a:avLst/>
          </a:prstGeom>
          <a:solidFill>
            <a:schemeClr val="accent1"/>
          </a:solidFill>
          <a:ln w="12700">
            <a:solidFill>
              <a:schemeClr val="accent1"/>
            </a:solidFill>
            <a:prstDash val="solid"/>
          </a:ln>
        </p:spPr>
      </p:sp>
      <p:sp>
        <p:nvSpPr>
          <p:cNvPr id="17" name="texte Redirection de port"/>
          <p:cNvSpPr txBox="1"/>
          <p:nvPr/>
        </p:nvSpPr>
        <p:spPr>
          <a:xfrm>
            <a:off x="640080" y="2926080"/>
            <a:ext cx="3749040" cy="777240"/>
          </a:xfrm>
          <a:prstGeom prst="rect">
            <a:avLst/>
          </a:prstGeom>
          <a:noFill/>
          <a:ln/>
        </p:spPr>
        <p:txBody>
          <a:bodyPr wrap="square" lIns="0" tIns="0" rIns="0" bIns="0" rtlCol="0" anchor="ctr"/>
          <a:lstStyle/>
          <a:p>
            <a:pPr indent="0" marL="0">
              <a:buNone/>
            </a:pPr>
            <a:r>
              <a:rPr lang="en-US" sz="1500" b="1" dirty="0">
                <a:solidFill>
                  <a:schemeClr val="tx1"/>
                </a:solidFill>
              </a:rPr>
              <a:t>Redirection de port</a:t>
            </a:r>
            <a:endParaRPr lang="en-US" sz="1500" dirty="0"/>
          </a:p>
          <a:p>
            <a:pPr indent="0" marL="0">
              <a:buNone/>
            </a:pPr>
            <a:r>
              <a:rPr lang="en-US" sz="1300" dirty="0">
                <a:solidFill>
                  <a:schemeClr val="tx2"/>
                </a:solidFill>
              </a:rPr>
              <a:t>127.0.0.1:2222 (hôte) → port 22 (VM)</a:t>
            </a:r>
            <a:endParaRPr lang="en-US" sz="1500" dirty="0"/>
          </a:p>
        </p:txBody>
      </p:sp>
      <p:sp>
        <p:nvSpPr>
          <p:cNvPr id="18" name="carte SSH"/>
          <p:cNvSpPr/>
          <p:nvPr/>
        </p:nvSpPr>
        <p:spPr>
          <a:xfrm>
            <a:off x="4663440" y="2880360"/>
            <a:ext cx="4114800" cy="868680"/>
          </a:xfrm>
          <a:prstGeom prst="roundRect">
            <a:avLst>
              <a:gd name="adj" fmla="val 8421"/>
            </a:avLst>
          </a:prstGeom>
          <a:solidFill>
            <a:schemeClr val="bg1"/>
          </a:solidFill>
          <a:ln w="19050">
            <a:solidFill>
              <a:schemeClr val="accent3"/>
            </a:solidFill>
            <a:prstDash val="solid"/>
          </a:ln>
        </p:spPr>
      </p:sp>
      <p:sp>
        <p:nvSpPr>
          <p:cNvPr id="19" name="repère SSH"/>
          <p:cNvSpPr/>
          <p:nvPr/>
        </p:nvSpPr>
        <p:spPr>
          <a:xfrm>
            <a:off x="4773168" y="3017520"/>
            <a:ext cx="64008" cy="594360"/>
          </a:xfrm>
          <a:prstGeom prst="rect">
            <a:avLst/>
          </a:prstGeom>
          <a:solidFill>
            <a:schemeClr val="accent3"/>
          </a:solidFill>
          <a:ln w="12700">
            <a:solidFill>
              <a:schemeClr val="accent3"/>
            </a:solidFill>
            <a:prstDash val="solid"/>
          </a:ln>
        </p:spPr>
      </p:sp>
      <p:sp>
        <p:nvSpPr>
          <p:cNvPr id="20" name="texte SSH"/>
          <p:cNvSpPr txBox="1"/>
          <p:nvPr/>
        </p:nvSpPr>
        <p:spPr>
          <a:xfrm>
            <a:off x="4937760" y="2926080"/>
            <a:ext cx="3749040" cy="777240"/>
          </a:xfrm>
          <a:prstGeom prst="rect">
            <a:avLst/>
          </a:prstGeom>
          <a:noFill/>
          <a:ln/>
        </p:spPr>
        <p:txBody>
          <a:bodyPr wrap="square" lIns="0" tIns="0" rIns="0" bIns="0" rtlCol="0" anchor="ctr"/>
          <a:lstStyle/>
          <a:p>
            <a:pPr indent="0" marL="0">
              <a:buNone/>
            </a:pPr>
            <a:r>
              <a:rPr lang="en-US" sz="1500" b="1" dirty="0">
                <a:solidFill>
                  <a:schemeClr val="tx1"/>
                </a:solidFill>
              </a:rPr>
              <a:t>SSH</a:t>
            </a:r>
            <a:endParaRPr lang="en-US" sz="1500" dirty="0"/>
          </a:p>
          <a:p>
            <a:pPr indent="0" marL="0">
              <a:buNone/>
            </a:pPr>
            <a:r>
              <a:rPr lang="en-US" sz="1300" dirty="0">
                <a:solidFill>
                  <a:schemeClr val="tx2"/>
                </a:solidFill>
              </a:rPr>
              <a:t>connexion sécurisée à distance, en ligne de commande</a:t>
            </a:r>
            <a:endParaRPr lang="en-US" sz="1500" dirty="0"/>
          </a:p>
        </p:txBody>
      </p:sp>
      <p:sp>
        <p:nvSpPr>
          <p:cNvPr id="21" name="carte Instantané"/>
          <p:cNvSpPr/>
          <p:nvPr/>
        </p:nvSpPr>
        <p:spPr>
          <a:xfrm>
            <a:off x="365760" y="3840480"/>
            <a:ext cx="4114800" cy="868680"/>
          </a:xfrm>
          <a:prstGeom prst="roundRect">
            <a:avLst>
              <a:gd name="adj" fmla="val 8421"/>
            </a:avLst>
          </a:prstGeom>
          <a:solidFill>
            <a:schemeClr val="bg1"/>
          </a:solidFill>
          <a:ln w="19050">
            <a:solidFill>
              <a:schemeClr val="accent1"/>
            </a:solidFill>
            <a:prstDash val="solid"/>
          </a:ln>
        </p:spPr>
      </p:sp>
      <p:sp>
        <p:nvSpPr>
          <p:cNvPr id="22" name="repère Instantané"/>
          <p:cNvSpPr/>
          <p:nvPr/>
        </p:nvSpPr>
        <p:spPr>
          <a:xfrm>
            <a:off x="475488" y="3977640"/>
            <a:ext cx="64008" cy="594360"/>
          </a:xfrm>
          <a:prstGeom prst="rect">
            <a:avLst/>
          </a:prstGeom>
          <a:solidFill>
            <a:schemeClr val="accent1"/>
          </a:solidFill>
          <a:ln w="12700">
            <a:solidFill>
              <a:schemeClr val="accent1"/>
            </a:solidFill>
            <a:prstDash val="solid"/>
          </a:ln>
        </p:spPr>
      </p:sp>
      <p:sp>
        <p:nvSpPr>
          <p:cNvPr id="23" name="texte Instantané"/>
          <p:cNvSpPr txBox="1"/>
          <p:nvPr/>
        </p:nvSpPr>
        <p:spPr>
          <a:xfrm>
            <a:off x="640080" y="3886200"/>
            <a:ext cx="3749040" cy="777240"/>
          </a:xfrm>
          <a:prstGeom prst="rect">
            <a:avLst/>
          </a:prstGeom>
          <a:noFill/>
          <a:ln/>
        </p:spPr>
        <p:txBody>
          <a:bodyPr wrap="square" lIns="0" tIns="0" rIns="0" bIns="0" rtlCol="0" anchor="ctr"/>
          <a:lstStyle/>
          <a:p>
            <a:pPr indent="0" marL="0">
              <a:buNone/>
            </a:pPr>
            <a:r>
              <a:rPr lang="en-US" sz="1500" b="1" dirty="0">
                <a:solidFill>
                  <a:schemeClr val="tx1"/>
                </a:solidFill>
              </a:rPr>
              <a:t>Instantané</a:t>
            </a:r>
            <a:endParaRPr lang="en-US" sz="1500" dirty="0"/>
          </a:p>
          <a:p>
            <a:pPr indent="0" marL="0">
              <a:buNone/>
            </a:pPr>
            <a:r>
              <a:rPr lang="en-US" sz="1300" dirty="0">
                <a:solidFill>
                  <a:schemeClr val="tx2"/>
                </a:solidFill>
              </a:rPr>
              <a:t>point de retour dans la même VM</a:t>
            </a:r>
            <a:endParaRPr lang="en-US" sz="1500" dirty="0"/>
          </a:p>
        </p:txBody>
      </p:sp>
      <p:sp>
        <p:nvSpPr>
          <p:cNvPr id="24" name="carte Clone"/>
          <p:cNvSpPr/>
          <p:nvPr/>
        </p:nvSpPr>
        <p:spPr>
          <a:xfrm>
            <a:off x="4663440" y="3840480"/>
            <a:ext cx="4114800" cy="868680"/>
          </a:xfrm>
          <a:prstGeom prst="roundRect">
            <a:avLst>
              <a:gd name="adj" fmla="val 8421"/>
            </a:avLst>
          </a:prstGeom>
          <a:solidFill>
            <a:schemeClr val="bg1"/>
          </a:solidFill>
          <a:ln w="19050">
            <a:solidFill>
              <a:schemeClr val="accent3"/>
            </a:solidFill>
            <a:prstDash val="solid"/>
          </a:ln>
        </p:spPr>
      </p:sp>
      <p:sp>
        <p:nvSpPr>
          <p:cNvPr id="25" name="repère Clone"/>
          <p:cNvSpPr/>
          <p:nvPr/>
        </p:nvSpPr>
        <p:spPr>
          <a:xfrm>
            <a:off x="4773168" y="3977640"/>
            <a:ext cx="64008" cy="594360"/>
          </a:xfrm>
          <a:prstGeom prst="rect">
            <a:avLst/>
          </a:prstGeom>
          <a:solidFill>
            <a:schemeClr val="accent3"/>
          </a:solidFill>
          <a:ln w="12700">
            <a:solidFill>
              <a:schemeClr val="accent3"/>
            </a:solidFill>
            <a:prstDash val="solid"/>
          </a:ln>
        </p:spPr>
      </p:sp>
      <p:sp>
        <p:nvSpPr>
          <p:cNvPr id="26" name="texte Clone"/>
          <p:cNvSpPr txBox="1"/>
          <p:nvPr/>
        </p:nvSpPr>
        <p:spPr>
          <a:xfrm>
            <a:off x="4937760" y="3886200"/>
            <a:ext cx="3749040" cy="777240"/>
          </a:xfrm>
          <a:prstGeom prst="rect">
            <a:avLst/>
          </a:prstGeom>
          <a:noFill/>
          <a:ln/>
        </p:spPr>
        <p:txBody>
          <a:bodyPr wrap="square" lIns="0" tIns="0" rIns="0" bIns="0" rtlCol="0" anchor="ctr"/>
          <a:lstStyle/>
          <a:p>
            <a:pPr indent="0" marL="0">
              <a:buNone/>
            </a:pPr>
            <a:r>
              <a:rPr lang="en-US" sz="1500" b="1" dirty="0">
                <a:solidFill>
                  <a:schemeClr val="tx1"/>
                </a:solidFill>
              </a:rPr>
              <a:t>Clone</a:t>
            </a:r>
            <a:endParaRPr lang="en-US" sz="1500" dirty="0"/>
          </a:p>
          <a:p>
            <a:pPr indent="0" marL="0">
              <a:buNone/>
            </a:pPr>
            <a:r>
              <a:rPr lang="en-US" sz="1300" dirty="0">
                <a:solidFill>
                  <a:schemeClr val="tx2"/>
                </a:solidFill>
              </a:rPr>
              <a:t>copie indépendante d’une VM</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Architecture du TP</a:t>
            </a:r>
            <a:endParaRPr lang="en-US" sz="3000" dirty="0"/>
          </a:p>
        </p:txBody>
      </p:sp>
      <p:sp>
        <p:nvSpPr>
          <p:cNvPr id="3" name="hôte"/>
          <p:cNvSpPr/>
          <p:nvPr/>
        </p:nvSpPr>
        <p:spPr>
          <a:xfrm>
            <a:off x="274320" y="1005840"/>
            <a:ext cx="8595360" cy="3566160"/>
          </a:xfrm>
          <a:prstGeom prst="roundRect">
            <a:avLst>
              <a:gd name="adj" fmla="val 2564"/>
            </a:avLst>
          </a:prstGeom>
          <a:solidFill>
            <a:schemeClr val="bg1"/>
          </a:solidFill>
          <a:ln w="19050">
            <a:solidFill>
              <a:schemeClr val="tx2"/>
            </a:solidFill>
            <a:prstDash val="solid"/>
          </a:ln>
        </p:spPr>
      </p:sp>
      <p:sp>
        <p:nvSpPr>
          <p:cNvPr id="4" name="lbl hôte"/>
          <p:cNvSpPr txBox="1"/>
          <p:nvPr/>
        </p:nvSpPr>
        <p:spPr>
          <a:xfrm>
            <a:off x="457200" y="1051560"/>
            <a:ext cx="4572000" cy="320040"/>
          </a:xfrm>
          <a:prstGeom prst="rect">
            <a:avLst/>
          </a:prstGeom>
          <a:noFill/>
          <a:ln/>
        </p:spPr>
        <p:txBody>
          <a:bodyPr wrap="square" lIns="0" tIns="0" rIns="0" bIns="0" rtlCol="0" anchor="ctr"/>
          <a:lstStyle/>
          <a:p>
            <a:pPr indent="0" marL="0">
              <a:buNone/>
            </a:pPr>
            <a:r>
              <a:rPr lang="en-US" sz="1400" b="1" dirty="0">
                <a:solidFill>
                  <a:schemeClr val="tx2"/>
                </a:solidFill>
              </a:rPr>
              <a:t>Hôte : PC Windows 11 (i5, 16 Go)</a:t>
            </a:r>
            <a:endParaRPr lang="en-US" sz="1400" dirty="0"/>
          </a:p>
        </p:txBody>
      </p:sp>
      <p:sp>
        <p:nvSpPr>
          <p:cNvPr id="5" name="powershell"/>
          <p:cNvSpPr/>
          <p:nvPr/>
        </p:nvSpPr>
        <p:spPr>
          <a:xfrm>
            <a:off x="457200" y="1920240"/>
            <a:ext cx="2194560" cy="1371600"/>
          </a:xfrm>
          <a:prstGeom prst="roundRect">
            <a:avLst>
              <a:gd name="adj" fmla="val 5333"/>
            </a:avLst>
          </a:prstGeom>
          <a:solidFill>
            <a:schemeClr val="tx2"/>
          </a:solidFill>
          <a:ln w="12700">
            <a:solidFill>
              <a:schemeClr val="tx2"/>
            </a:solidFill>
            <a:prstDash val="solid"/>
          </a:ln>
        </p:spPr>
      </p:sp>
      <p:sp>
        <p:nvSpPr>
          <p:cNvPr id="6" name="t powershell"/>
          <p:cNvSpPr txBox="1"/>
          <p:nvPr/>
        </p:nvSpPr>
        <p:spPr>
          <a:xfrm>
            <a:off x="457200" y="1920240"/>
            <a:ext cx="2194560" cy="137160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PowerShell</a:t>
            </a:r>
            <a:endParaRPr lang="en-US" sz="1500" dirty="0"/>
          </a:p>
          <a:p>
            <a:pPr algn="ctr" indent="0" marL="0">
              <a:buNone/>
            </a:pPr>
            <a:r>
              <a:rPr lang="en-US" sz="1200" dirty="0">
                <a:solidFill>
                  <a:schemeClr val="bg1"/>
                </a:solidFill>
              </a:rPr>
              <a:t>ssh -p 2222 etudiant@127.0.0.1</a:t>
            </a:r>
            <a:endParaRPr lang="en-US" sz="1500" dirty="0"/>
          </a:p>
        </p:txBody>
      </p:sp>
      <p:sp>
        <p:nvSpPr>
          <p:cNvPr id="7" name="virtualbox"/>
          <p:cNvSpPr/>
          <p:nvPr/>
        </p:nvSpPr>
        <p:spPr>
          <a:xfrm>
            <a:off x="3657600" y="1463040"/>
            <a:ext cx="5029200" cy="2926080"/>
          </a:xfrm>
          <a:prstGeom prst="roundRect">
            <a:avLst>
              <a:gd name="adj" fmla="val 2500"/>
            </a:avLst>
          </a:prstGeom>
          <a:solidFill>
            <a:schemeClr val="accent3">
              <a:alpha val="20000"/>
            </a:schemeClr>
          </a:solidFill>
          <a:ln w="19050">
            <a:solidFill>
              <a:schemeClr val="accent3"/>
            </a:solidFill>
            <a:prstDash val="solid"/>
          </a:ln>
        </p:spPr>
      </p:sp>
      <p:sp>
        <p:nvSpPr>
          <p:cNvPr id="8" name="lbl vbox"/>
          <p:cNvSpPr txBox="1"/>
          <p:nvPr/>
        </p:nvSpPr>
        <p:spPr>
          <a:xfrm>
            <a:off x="3749040" y="1508760"/>
            <a:ext cx="4846320" cy="320040"/>
          </a:xfrm>
          <a:prstGeom prst="rect">
            <a:avLst/>
          </a:prstGeom>
          <a:noFill/>
          <a:ln/>
        </p:spPr>
        <p:txBody>
          <a:bodyPr wrap="square" lIns="0" tIns="0" rIns="0" bIns="0" rtlCol="0" anchor="ctr"/>
          <a:lstStyle/>
          <a:p>
            <a:pPr indent="0" marL="0">
              <a:buNone/>
            </a:pPr>
            <a:r>
              <a:rPr lang="en-US" sz="1300" b="1" dirty="0">
                <a:solidFill>
                  <a:schemeClr val="tx1"/>
                </a:solidFill>
              </a:rPr>
              <a:t>VirtualBox (hyperviseur type 2) · réseau NAT</a:t>
            </a:r>
            <a:endParaRPr lang="en-US" sz="1300" dirty="0"/>
          </a:p>
        </p:txBody>
      </p:sp>
      <p:sp>
        <p:nvSpPr>
          <p:cNvPr id="9" name="vm"/>
          <p:cNvSpPr/>
          <p:nvPr/>
        </p:nvSpPr>
        <p:spPr>
          <a:xfrm>
            <a:off x="3931920" y="2011680"/>
            <a:ext cx="2651760" cy="1280160"/>
          </a:xfrm>
          <a:prstGeom prst="roundRect">
            <a:avLst>
              <a:gd name="adj" fmla="val 5714"/>
            </a:avLst>
          </a:prstGeom>
          <a:solidFill>
            <a:schemeClr val="accent1"/>
          </a:solidFill>
          <a:ln w="12700">
            <a:solidFill>
              <a:schemeClr val="accent1"/>
            </a:solidFill>
            <a:prstDash val="solid"/>
          </a:ln>
        </p:spPr>
      </p:sp>
      <p:sp>
        <p:nvSpPr>
          <p:cNvPr id="10" name="t vm"/>
          <p:cNvSpPr txBox="1"/>
          <p:nvPr/>
        </p:nvSpPr>
        <p:spPr>
          <a:xfrm>
            <a:off x="3931920" y="2011680"/>
            <a:ext cx="2651760" cy="128016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VM ubuntu-srv</a:t>
            </a:r>
            <a:endParaRPr lang="en-US" sz="1500" dirty="0"/>
          </a:p>
          <a:p>
            <a:pPr algn="ctr" indent="0" marL="0">
              <a:buNone/>
            </a:pPr>
            <a:r>
              <a:rPr lang="en-US" sz="1200" dirty="0">
                <a:solidFill>
                  <a:schemeClr val="bg1"/>
                </a:solidFill>
              </a:rPr>
              <a:t>Ubuntu Server 26.04.1</a:t>
            </a:r>
            <a:endParaRPr lang="en-US" sz="1500" dirty="0"/>
          </a:p>
          <a:p>
            <a:pPr algn="ctr" indent="0" marL="0">
              <a:buNone/>
            </a:pPr>
            <a:r>
              <a:rPr lang="en-US" sz="1200" dirty="0">
                <a:solidFill>
                  <a:schemeClr val="bg1"/>
                </a:solidFill>
              </a:rPr>
              <a:t>IP 10.0.2.15 · SSH :22</a:t>
            </a:r>
            <a:endParaRPr lang="en-US" sz="1500" dirty="0"/>
          </a:p>
        </p:txBody>
      </p:sp>
      <p:sp>
        <p:nvSpPr>
          <p:cNvPr id="11" name="flèche ssh"/>
          <p:cNvSpPr/>
          <p:nvPr/>
        </p:nvSpPr>
        <p:spPr>
          <a:xfrm>
            <a:off x="2651760" y="2606040"/>
            <a:ext cx="1280160" cy="0"/>
          </a:xfrm>
          <a:prstGeom prst="line">
            <a:avLst/>
          </a:prstGeom>
          <a:noFill/>
          <a:ln w="38100">
            <a:solidFill>
              <a:schemeClr val="accent2"/>
            </a:solidFill>
            <a:prstDash val="solid"/>
            <a:tailEnd type="triangle"/>
          </a:ln>
        </p:spPr>
      </p:sp>
      <p:sp>
        <p:nvSpPr>
          <p:cNvPr id="12" name="lbl flèche"/>
          <p:cNvSpPr txBox="1"/>
          <p:nvPr/>
        </p:nvSpPr>
        <p:spPr>
          <a:xfrm>
            <a:off x="2651760" y="2240280"/>
            <a:ext cx="1005840" cy="320040"/>
          </a:xfrm>
          <a:prstGeom prst="rect">
            <a:avLst/>
          </a:prstGeom>
          <a:noFill/>
          <a:ln/>
        </p:spPr>
        <p:txBody>
          <a:bodyPr wrap="square" lIns="0" tIns="0" rIns="0" bIns="0" rtlCol="0" anchor="ctr"/>
          <a:lstStyle/>
          <a:p>
            <a:pPr algn="ctr" indent="0" marL="0">
              <a:buNone/>
            </a:pPr>
            <a:r>
              <a:rPr lang="en-US" sz="1100" b="1" dirty="0">
                <a:solidFill>
                  <a:schemeClr val="accent2"/>
                </a:solidFill>
              </a:rPr>
              <a:t>2222 → 22</a:t>
            </a:r>
            <a:endParaRPr lang="en-US" sz="1100" dirty="0"/>
          </a:p>
        </p:txBody>
      </p:sp>
      <p:sp>
        <p:nvSpPr>
          <p:cNvPr id="13" name="flèche internet"/>
          <p:cNvSpPr/>
          <p:nvPr/>
        </p:nvSpPr>
        <p:spPr>
          <a:xfrm>
            <a:off x="6583680" y="2651760"/>
            <a:ext cx="822960" cy="0"/>
          </a:xfrm>
          <a:prstGeom prst="line">
            <a:avLst/>
          </a:prstGeom>
          <a:noFill/>
          <a:ln w="25400">
            <a:solidFill>
              <a:schemeClr val="tx2"/>
            </a:solidFill>
            <a:prstDash val="solid"/>
            <a:tailEnd type="triangle"/>
          </a:ln>
        </p:spPr>
      </p:sp>
      <p:sp>
        <p:nvSpPr>
          <p:cNvPr id="14" name="internet"/>
          <p:cNvSpPr/>
          <p:nvPr/>
        </p:nvSpPr>
        <p:spPr>
          <a:xfrm>
            <a:off x="7406640" y="2148840"/>
            <a:ext cx="1188720" cy="1005840"/>
          </a:xfrm>
          <a:prstGeom prst="roundRect">
            <a:avLst>
              <a:gd name="adj" fmla="val 9091"/>
            </a:avLst>
          </a:prstGeom>
          <a:solidFill>
            <a:schemeClr val="accent4"/>
          </a:solidFill>
          <a:ln w="12700">
            <a:solidFill>
              <a:schemeClr val="accent4"/>
            </a:solidFill>
            <a:prstDash val="solid"/>
          </a:ln>
        </p:spPr>
      </p:sp>
      <p:sp>
        <p:nvSpPr>
          <p:cNvPr id="15" name="t internet"/>
          <p:cNvSpPr txBox="1"/>
          <p:nvPr/>
        </p:nvSpPr>
        <p:spPr>
          <a:xfrm>
            <a:off x="7406640" y="2148840"/>
            <a:ext cx="1188720" cy="1005840"/>
          </a:xfrm>
          <a:prstGeom prst="rect">
            <a:avLst/>
          </a:prstGeom>
          <a:noFill/>
          <a:ln/>
        </p:spPr>
        <p:txBody>
          <a:bodyPr wrap="square" lIns="25400" tIns="25400" rIns="25400" bIns="25400" rtlCol="0" anchor="ctr"/>
          <a:lstStyle/>
          <a:p>
            <a:pPr algn="ctr" indent="0" marL="0">
              <a:buNone/>
            </a:pPr>
            <a:r>
              <a:rPr lang="en-US" sz="1400" b="1" dirty="0">
                <a:solidFill>
                  <a:schemeClr val="tx1"/>
                </a:solidFill>
              </a:rPr>
              <a:t>Internet</a:t>
            </a:r>
            <a:endParaRPr lang="en-US" sz="1400" dirty="0"/>
          </a:p>
          <a:p>
            <a:pPr algn="ctr" indent="0" marL="0">
              <a:buNone/>
            </a:pPr>
            <a:r>
              <a:rPr lang="en-US" sz="1200" dirty="0">
                <a:solidFill>
                  <a:schemeClr val="tx1"/>
                </a:solidFill>
              </a:rPr>
              <a:t>via 10.0.2.2</a:t>
            </a:r>
            <a:endParaRPr lang="en-US" sz="1400" dirty="0"/>
          </a:p>
        </p:txBody>
      </p:sp>
      <p:sp>
        <p:nvSpPr>
          <p:cNvPr id="16" name="note"/>
          <p:cNvSpPr txBox="1"/>
          <p:nvPr/>
        </p:nvSpPr>
        <p:spPr>
          <a:xfrm>
            <a:off x="457200" y="3840480"/>
            <a:ext cx="3108960" cy="640080"/>
          </a:xfrm>
          <a:prstGeom prst="rect">
            <a:avLst/>
          </a:prstGeom>
          <a:noFill/>
          <a:ln/>
        </p:spPr>
        <p:txBody>
          <a:bodyPr wrap="square" lIns="0" tIns="0" rIns="0" bIns="0" rtlCol="0" anchor="ctr"/>
          <a:lstStyle/>
          <a:p>
            <a:pPr indent="0" marL="0">
              <a:buNone/>
            </a:pPr>
            <a:r>
              <a:rPr lang="en-US" sz="1300" i="1" dirty="0">
                <a:solidFill>
                  <a:schemeClr val="tx2"/>
                </a:solidFill>
              </a:rPr>
              <a:t>L’hôte ne voit pas 10.0.2.15 : la redirection de port est le seul accès.</a:t>
            </a:r>
            <a:endParaRPr lang="en-US" sz="13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Partie 1 : préparer l’hôte</a:t>
            </a:r>
            <a:endParaRPr lang="en-US" sz="3000" dirty="0"/>
          </a:p>
        </p:txBody>
      </p:sp>
      <p:pic>
        <p:nvPicPr>
          <p:cNvPr id="3" name="Gestionnaire des tâches : virtualisation activée" descr="Gestionnaire des tâches : virtualisation activée">    </p:cNvPr>
          <p:cNvPicPr>
            <a:picLocks noChangeAspect="1"/>
          </p:cNvPicPr>
          <p:nvPr/>
        </p:nvPicPr>
        <p:blipFill>
          <a:blip r:embed="rId1"/>
          <a:stretch>
            <a:fillRect/>
          </a:stretch>
        </p:blipFill>
        <p:spPr>
          <a:xfrm>
            <a:off x="365760" y="979203"/>
            <a:ext cx="3566160" cy="3710874"/>
          </a:xfrm>
          <a:prstGeom prst="rect">
            <a:avLst/>
          </a:prstGeom>
        </p:spPr>
      </p:pic>
      <p:sp>
        <p:nvSpPr>
          <p:cNvPr id="4" name="cadre Gestionnaire des tâches : virtualisation activée"/>
          <p:cNvSpPr/>
          <p:nvPr/>
        </p:nvSpPr>
        <p:spPr>
          <a:xfrm>
            <a:off x="365760" y="979203"/>
            <a:ext cx="3566160" cy="3710874"/>
          </a:xfrm>
          <a:prstGeom prst="rect">
            <a:avLst/>
          </a:prstGeom>
          <a:ln w="12700">
            <a:solidFill>
              <a:schemeClr val="accent4"/>
            </a:solidFill>
            <a:prstDash val="solid"/>
          </a:ln>
        </p:spPr>
      </p:sp>
      <p:sp>
        <p:nvSpPr>
          <p:cNvPr id="5" name="carte Virtualisation matérielle activée"/>
          <p:cNvSpPr/>
          <p:nvPr/>
        </p:nvSpPr>
        <p:spPr>
          <a:xfrm>
            <a:off x="4206240" y="1005840"/>
            <a:ext cx="4572000" cy="1005840"/>
          </a:xfrm>
          <a:prstGeom prst="roundRect">
            <a:avLst>
              <a:gd name="adj" fmla="val 7273"/>
            </a:avLst>
          </a:prstGeom>
          <a:solidFill>
            <a:schemeClr val="bg1"/>
          </a:solidFill>
          <a:ln w="19050">
            <a:solidFill>
              <a:schemeClr val="accent1"/>
            </a:solidFill>
            <a:prstDash val="solid"/>
          </a:ln>
        </p:spPr>
      </p:sp>
      <p:sp>
        <p:nvSpPr>
          <p:cNvPr id="6" name="repère Virtualisation matérielle activée"/>
          <p:cNvSpPr/>
          <p:nvPr/>
        </p:nvSpPr>
        <p:spPr>
          <a:xfrm>
            <a:off x="4315968" y="1143000"/>
            <a:ext cx="64008" cy="731520"/>
          </a:xfrm>
          <a:prstGeom prst="rect">
            <a:avLst/>
          </a:prstGeom>
          <a:solidFill>
            <a:schemeClr val="accent1"/>
          </a:solidFill>
          <a:ln w="12700">
            <a:solidFill>
              <a:schemeClr val="accent1"/>
            </a:solidFill>
            <a:prstDash val="solid"/>
          </a:ln>
        </p:spPr>
      </p:sp>
      <p:sp>
        <p:nvSpPr>
          <p:cNvPr id="7" name="texte Virtualisation matérielle activée"/>
          <p:cNvSpPr txBox="1"/>
          <p:nvPr/>
        </p:nvSpPr>
        <p:spPr>
          <a:xfrm>
            <a:off x="4480560" y="1051560"/>
            <a:ext cx="4206240" cy="914400"/>
          </a:xfrm>
          <a:prstGeom prst="rect">
            <a:avLst/>
          </a:prstGeom>
          <a:noFill/>
          <a:ln/>
        </p:spPr>
        <p:txBody>
          <a:bodyPr wrap="square" lIns="0" tIns="0" rIns="0" bIns="0" rtlCol="0" anchor="ctr"/>
          <a:lstStyle/>
          <a:p>
            <a:pPr indent="0" marL="0">
              <a:buNone/>
            </a:pPr>
            <a:r>
              <a:rPr lang="en-US" sz="1500" b="1" dirty="0">
                <a:solidFill>
                  <a:schemeClr val="tx1"/>
                </a:solidFill>
              </a:rPr>
              <a:t>Virtualisation matérielle activée</a:t>
            </a:r>
            <a:endParaRPr lang="en-US" sz="1500" dirty="0"/>
          </a:p>
          <a:p>
            <a:pPr indent="0" marL="0">
              <a:buNone/>
            </a:pPr>
            <a:r>
              <a:rPr lang="en-US" sz="1300" dirty="0">
                <a:solidFill>
                  <a:schemeClr val="tx2"/>
                </a:solidFill>
              </a:rPr>
              <a:t>VT-x disponible : les VM 64 bits sont possibles</a:t>
            </a:r>
            <a:endParaRPr lang="en-US" sz="1500" dirty="0"/>
          </a:p>
        </p:txBody>
      </p:sp>
      <p:sp>
        <p:nvSpPr>
          <p:cNvPr id="8" name="carte VirtualBox 7.2.20 installé"/>
          <p:cNvSpPr/>
          <p:nvPr/>
        </p:nvSpPr>
        <p:spPr>
          <a:xfrm>
            <a:off x="4206240" y="2148840"/>
            <a:ext cx="4572000" cy="1005840"/>
          </a:xfrm>
          <a:prstGeom prst="roundRect">
            <a:avLst>
              <a:gd name="adj" fmla="val 7273"/>
            </a:avLst>
          </a:prstGeom>
          <a:solidFill>
            <a:schemeClr val="bg1"/>
          </a:solidFill>
          <a:ln w="19050">
            <a:solidFill>
              <a:schemeClr val="accent3"/>
            </a:solidFill>
            <a:prstDash val="solid"/>
          </a:ln>
        </p:spPr>
      </p:sp>
      <p:sp>
        <p:nvSpPr>
          <p:cNvPr id="9" name="repère VirtualBox 7.2.20 installé"/>
          <p:cNvSpPr/>
          <p:nvPr/>
        </p:nvSpPr>
        <p:spPr>
          <a:xfrm>
            <a:off x="4315968" y="2286000"/>
            <a:ext cx="64008" cy="731520"/>
          </a:xfrm>
          <a:prstGeom prst="rect">
            <a:avLst/>
          </a:prstGeom>
          <a:solidFill>
            <a:schemeClr val="accent3"/>
          </a:solidFill>
          <a:ln w="12700">
            <a:solidFill>
              <a:schemeClr val="accent3"/>
            </a:solidFill>
            <a:prstDash val="solid"/>
          </a:ln>
        </p:spPr>
      </p:sp>
      <p:sp>
        <p:nvSpPr>
          <p:cNvPr id="10" name="texte VirtualBox 7.2.20 installé"/>
          <p:cNvSpPr txBox="1"/>
          <p:nvPr/>
        </p:nvSpPr>
        <p:spPr>
          <a:xfrm>
            <a:off x="4480560" y="2194560"/>
            <a:ext cx="4206240" cy="914400"/>
          </a:xfrm>
          <a:prstGeom prst="rect">
            <a:avLst/>
          </a:prstGeom>
          <a:noFill/>
          <a:ln/>
        </p:spPr>
        <p:txBody>
          <a:bodyPr wrap="square" lIns="0" tIns="0" rIns="0" bIns="0" rtlCol="0" anchor="ctr"/>
          <a:lstStyle/>
          <a:p>
            <a:pPr indent="0" marL="0">
              <a:buNone/>
            </a:pPr>
            <a:r>
              <a:rPr lang="en-US" sz="1500" b="1" dirty="0">
                <a:solidFill>
                  <a:schemeClr val="tx1"/>
                </a:solidFill>
              </a:rPr>
              <a:t>VirtualBox 7.2.20 installé</a:t>
            </a:r>
            <a:endParaRPr lang="en-US" sz="1500" dirty="0"/>
          </a:p>
          <a:p>
            <a:pPr indent="0" marL="0">
              <a:buNone/>
            </a:pPr>
            <a:r>
              <a:rPr lang="en-US" sz="1300" dirty="0">
                <a:solidFill>
                  <a:schemeClr val="tx2"/>
                </a:solidFill>
              </a:rPr>
              <a:t>4 processeurs logiques, 16 Go de RAM</a:t>
            </a:r>
            <a:endParaRPr lang="en-US" sz="1500" dirty="0"/>
          </a:p>
        </p:txBody>
      </p:sp>
      <p:sp>
        <p:nvSpPr>
          <p:cNvPr id="11" name="carte Hyper-V actif sur Windows"/>
          <p:cNvSpPr/>
          <p:nvPr/>
        </p:nvSpPr>
        <p:spPr>
          <a:xfrm>
            <a:off x="4206240" y="3291840"/>
            <a:ext cx="4572000" cy="1005840"/>
          </a:xfrm>
          <a:prstGeom prst="roundRect">
            <a:avLst>
              <a:gd name="adj" fmla="val 7273"/>
            </a:avLst>
          </a:prstGeom>
          <a:solidFill>
            <a:schemeClr val="bg1"/>
          </a:solidFill>
          <a:ln w="19050">
            <a:solidFill>
              <a:schemeClr val="accent2"/>
            </a:solidFill>
            <a:prstDash val="solid"/>
          </a:ln>
        </p:spPr>
      </p:sp>
      <p:sp>
        <p:nvSpPr>
          <p:cNvPr id="12" name="repère Hyper-V actif sur Windows"/>
          <p:cNvSpPr/>
          <p:nvPr/>
        </p:nvSpPr>
        <p:spPr>
          <a:xfrm>
            <a:off x="4315968" y="3429000"/>
            <a:ext cx="64008" cy="731520"/>
          </a:xfrm>
          <a:prstGeom prst="rect">
            <a:avLst/>
          </a:prstGeom>
          <a:solidFill>
            <a:schemeClr val="accent2"/>
          </a:solidFill>
          <a:ln w="12700">
            <a:solidFill>
              <a:schemeClr val="accent2"/>
            </a:solidFill>
            <a:prstDash val="solid"/>
          </a:ln>
        </p:spPr>
      </p:sp>
      <p:sp>
        <p:nvSpPr>
          <p:cNvPr id="13" name="texte Hyper-V actif sur Windows"/>
          <p:cNvSpPr txBox="1"/>
          <p:nvPr/>
        </p:nvSpPr>
        <p:spPr>
          <a:xfrm>
            <a:off x="4480560" y="3337560"/>
            <a:ext cx="4206240" cy="914400"/>
          </a:xfrm>
          <a:prstGeom prst="rect">
            <a:avLst/>
          </a:prstGeom>
          <a:noFill/>
          <a:ln/>
        </p:spPr>
        <p:txBody>
          <a:bodyPr wrap="square" lIns="0" tIns="0" rIns="0" bIns="0" rtlCol="0" anchor="ctr"/>
          <a:lstStyle/>
          <a:p>
            <a:pPr indent="0" marL="0">
              <a:buNone/>
            </a:pPr>
            <a:r>
              <a:rPr lang="en-US" sz="1500" b="1" dirty="0">
                <a:solidFill>
                  <a:schemeClr val="tx1"/>
                </a:solidFill>
              </a:rPr>
              <a:t>Hyper-V actif sur Windows</a:t>
            </a:r>
            <a:endParaRPr lang="en-US" sz="1500" dirty="0"/>
          </a:p>
          <a:p>
            <a:pPr indent="0" marL="0">
              <a:buNone/>
            </a:pPr>
            <a:r>
              <a:rPr lang="en-US" sz="1300" dirty="0">
                <a:solidFill>
                  <a:schemeClr val="tx2"/>
                </a:solidFill>
              </a:rPr>
              <a:t>Peut ralentir la VM (hypervisorlaunchtype = Auto)</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Partie 2 : ISO et empreinte SHA256</a:t>
            </a:r>
            <a:endParaRPr lang="en-US" sz="3000" dirty="0"/>
          </a:p>
        </p:txBody>
      </p:sp>
      <p:sp>
        <p:nvSpPr>
          <p:cNvPr id="3" name="Calculée sur mon ISO"/>
          <p:cNvSpPr/>
          <p:nvPr/>
        </p:nvSpPr>
        <p:spPr>
          <a:xfrm>
            <a:off x="365760" y="1051560"/>
            <a:ext cx="3931920" cy="1463040"/>
          </a:xfrm>
          <a:prstGeom prst="roundRect">
            <a:avLst>
              <a:gd name="adj" fmla="val 5000"/>
            </a:avLst>
          </a:prstGeom>
          <a:solidFill>
            <a:schemeClr val="accent3"/>
          </a:solidFill>
          <a:ln w="12700">
            <a:solidFill>
              <a:schemeClr val="accent3"/>
            </a:solidFill>
            <a:prstDash val="solid"/>
          </a:ln>
        </p:spPr>
      </p:sp>
      <p:sp>
        <p:nvSpPr>
          <p:cNvPr id="4" name="t Calculée sur mon ISO"/>
          <p:cNvSpPr txBox="1"/>
          <p:nvPr/>
        </p:nvSpPr>
        <p:spPr>
          <a:xfrm>
            <a:off x="365760" y="1051560"/>
            <a:ext cx="3931920" cy="1463040"/>
          </a:xfrm>
          <a:prstGeom prst="rect">
            <a:avLst/>
          </a:prstGeom>
          <a:noFill/>
          <a:ln/>
        </p:spPr>
        <p:txBody>
          <a:bodyPr wrap="square" lIns="50800" tIns="50800" rIns="50800" bIns="50800" rtlCol="0" anchor="ctr"/>
          <a:lstStyle/>
          <a:p>
            <a:pPr algn="ctr" indent="0" marL="0">
              <a:buNone/>
            </a:pPr>
            <a:r>
              <a:rPr lang="en-US" sz="1400" dirty="0">
                <a:solidFill>
                  <a:schemeClr val="bg1"/>
                </a:solidFill>
              </a:rPr>
              <a:t>Calculée sur mon ISO</a:t>
            </a:r>
            <a:endParaRPr lang="en-US" sz="1400" dirty="0"/>
          </a:p>
          <a:p>
            <a:pPr algn="ctr" indent="0" marL="0">
              <a:buNone/>
            </a:pPr>
            <a:r>
              <a:rPr lang="en-US" sz="2200" b="1" dirty="0">
                <a:solidFill>
                  <a:schemeClr val="bg1"/>
                </a:solidFill>
                <a:latin typeface="Courier New" pitchFamily="34" charset="0"/>
                <a:ea typeface="Courier New" pitchFamily="34" charset="-122"/>
                <a:cs typeface="Courier New" pitchFamily="34" charset="-120"/>
              </a:rPr>
              <a:t>CC8A95CD…17F1D927</a:t>
            </a:r>
            <a:endParaRPr lang="en-US" sz="1400" dirty="0"/>
          </a:p>
        </p:txBody>
      </p:sp>
      <p:sp>
        <p:nvSpPr>
          <p:cNvPr id="5" name="Publiée par Ubuntu (ligne 5)"/>
          <p:cNvSpPr/>
          <p:nvPr/>
        </p:nvSpPr>
        <p:spPr>
          <a:xfrm>
            <a:off x="4846320" y="1051560"/>
            <a:ext cx="3931920" cy="1463040"/>
          </a:xfrm>
          <a:prstGeom prst="roundRect">
            <a:avLst>
              <a:gd name="adj" fmla="val 5000"/>
            </a:avLst>
          </a:prstGeom>
          <a:solidFill>
            <a:schemeClr val="tx2"/>
          </a:solidFill>
          <a:ln w="12700">
            <a:solidFill>
              <a:schemeClr val="tx2"/>
            </a:solidFill>
            <a:prstDash val="solid"/>
          </a:ln>
        </p:spPr>
      </p:sp>
      <p:sp>
        <p:nvSpPr>
          <p:cNvPr id="6" name="t Publiée par Ubuntu (ligne 5)"/>
          <p:cNvSpPr txBox="1"/>
          <p:nvPr/>
        </p:nvSpPr>
        <p:spPr>
          <a:xfrm>
            <a:off x="4846320" y="1051560"/>
            <a:ext cx="3931920" cy="1463040"/>
          </a:xfrm>
          <a:prstGeom prst="rect">
            <a:avLst/>
          </a:prstGeom>
          <a:noFill/>
          <a:ln/>
        </p:spPr>
        <p:txBody>
          <a:bodyPr wrap="square" lIns="50800" tIns="50800" rIns="50800" bIns="50800" rtlCol="0" anchor="ctr"/>
          <a:lstStyle/>
          <a:p>
            <a:pPr algn="ctr" indent="0" marL="0">
              <a:buNone/>
            </a:pPr>
            <a:r>
              <a:rPr lang="en-US" sz="1400" dirty="0">
                <a:solidFill>
                  <a:schemeClr val="bg1"/>
                </a:solidFill>
              </a:rPr>
              <a:t>Publiée par Ubuntu (ligne 5)</a:t>
            </a:r>
            <a:endParaRPr lang="en-US" sz="1400" dirty="0"/>
          </a:p>
          <a:p>
            <a:pPr algn="ctr" indent="0" marL="0">
              <a:buNone/>
            </a:pPr>
            <a:r>
              <a:rPr lang="en-US" sz="2200" b="1" dirty="0">
                <a:solidFill>
                  <a:schemeClr val="bg1"/>
                </a:solidFill>
                <a:latin typeface="Courier New" pitchFamily="34" charset="0"/>
                <a:ea typeface="Courier New" pitchFamily="34" charset="-122"/>
                <a:cs typeface="Courier New" pitchFamily="34" charset="-120"/>
              </a:rPr>
              <a:t>cc8a95cd…17f1d927</a:t>
            </a:r>
            <a:endParaRPr lang="en-US" sz="1400" dirty="0"/>
          </a:p>
        </p:txBody>
      </p:sp>
      <p:sp>
        <p:nvSpPr>
          <p:cNvPr id="7" name="égal"/>
          <p:cNvSpPr/>
          <p:nvPr/>
        </p:nvSpPr>
        <p:spPr>
          <a:xfrm>
            <a:off x="4069080" y="1508760"/>
            <a:ext cx="640080" cy="640080"/>
          </a:xfrm>
          <a:prstGeom prst="ellipse">
            <a:avLst/>
          </a:prstGeom>
          <a:solidFill>
            <a:schemeClr val="accent5"/>
          </a:solidFill>
          <a:ln w="25400">
            <a:solidFill>
              <a:schemeClr val="bg1"/>
            </a:solidFill>
            <a:prstDash val="solid"/>
          </a:ln>
        </p:spPr>
      </p:sp>
      <p:sp>
        <p:nvSpPr>
          <p:cNvPr id="8" name="t égal"/>
          <p:cNvSpPr txBox="1"/>
          <p:nvPr/>
        </p:nvSpPr>
        <p:spPr>
          <a:xfrm>
            <a:off x="4069080" y="1508760"/>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rPr>
              <a:t>=</a:t>
            </a:r>
            <a:endParaRPr lang="en-US" sz="2800" dirty="0"/>
          </a:p>
        </p:txBody>
      </p:sp>
      <p:sp>
        <p:nvSpPr>
          <p:cNvPr id="9" name="carte Fichier vérifié"/>
          <p:cNvSpPr/>
          <p:nvPr/>
        </p:nvSpPr>
        <p:spPr>
          <a:xfrm>
            <a:off x="365760" y="2788920"/>
            <a:ext cx="3931920" cy="1645920"/>
          </a:xfrm>
          <a:prstGeom prst="roundRect">
            <a:avLst>
              <a:gd name="adj" fmla="val 4444"/>
            </a:avLst>
          </a:prstGeom>
          <a:solidFill>
            <a:schemeClr val="bg1"/>
          </a:solidFill>
          <a:ln w="19050">
            <a:solidFill>
              <a:schemeClr val="accent1"/>
            </a:solidFill>
            <a:prstDash val="solid"/>
          </a:ln>
        </p:spPr>
      </p:sp>
      <p:sp>
        <p:nvSpPr>
          <p:cNvPr id="10" name="repère Fichier vérifié"/>
          <p:cNvSpPr/>
          <p:nvPr/>
        </p:nvSpPr>
        <p:spPr>
          <a:xfrm>
            <a:off x="475488" y="2926080"/>
            <a:ext cx="64008" cy="1371600"/>
          </a:xfrm>
          <a:prstGeom prst="rect">
            <a:avLst/>
          </a:prstGeom>
          <a:solidFill>
            <a:schemeClr val="accent1"/>
          </a:solidFill>
          <a:ln w="12700">
            <a:solidFill>
              <a:schemeClr val="accent1"/>
            </a:solidFill>
            <a:prstDash val="solid"/>
          </a:ln>
        </p:spPr>
      </p:sp>
      <p:sp>
        <p:nvSpPr>
          <p:cNvPr id="11" name="texte Fichier vérifié"/>
          <p:cNvSpPr txBox="1"/>
          <p:nvPr/>
        </p:nvSpPr>
        <p:spPr>
          <a:xfrm>
            <a:off x="640080" y="2834640"/>
            <a:ext cx="3566160" cy="1554480"/>
          </a:xfrm>
          <a:prstGeom prst="rect">
            <a:avLst/>
          </a:prstGeom>
          <a:noFill/>
          <a:ln/>
        </p:spPr>
        <p:txBody>
          <a:bodyPr wrap="square" lIns="0" tIns="0" rIns="0" bIns="0" rtlCol="0" anchor="ctr"/>
          <a:lstStyle/>
          <a:p>
            <a:pPr indent="0" marL="0">
              <a:buNone/>
            </a:pPr>
            <a:r>
              <a:rPr lang="en-US" sz="1500" b="1" dirty="0">
                <a:solidFill>
                  <a:schemeClr val="tx1"/>
                </a:solidFill>
              </a:rPr>
              <a:t>Fichier vérifié</a:t>
            </a:r>
            <a:endParaRPr lang="en-US" sz="1500" dirty="0"/>
          </a:p>
          <a:p>
            <a:pPr indent="0" marL="0">
              <a:buNone/>
            </a:pPr>
            <a:r>
              <a:rPr lang="en-US" sz="1300" dirty="0">
                <a:solidFill>
                  <a:schemeClr val="tx2"/>
                </a:solidFill>
              </a:rPr>
              <a:t>ubuntu-26.04.1-live-server-amd64.iso, environ 2,73 Gio</a:t>
            </a:r>
            <a:endParaRPr lang="en-US" sz="1500" dirty="0"/>
          </a:p>
        </p:txBody>
      </p:sp>
      <p:sp>
        <p:nvSpPr>
          <p:cNvPr id="12" name="carte Résultat : identiques"/>
          <p:cNvSpPr/>
          <p:nvPr/>
        </p:nvSpPr>
        <p:spPr>
          <a:xfrm>
            <a:off x="4846320" y="2788920"/>
            <a:ext cx="3931920" cy="1645920"/>
          </a:xfrm>
          <a:prstGeom prst="roundRect">
            <a:avLst>
              <a:gd name="adj" fmla="val 4444"/>
            </a:avLst>
          </a:prstGeom>
          <a:solidFill>
            <a:schemeClr val="bg1"/>
          </a:solidFill>
          <a:ln w="19050">
            <a:solidFill>
              <a:schemeClr val="accent5"/>
            </a:solidFill>
            <a:prstDash val="solid"/>
          </a:ln>
        </p:spPr>
      </p:sp>
      <p:sp>
        <p:nvSpPr>
          <p:cNvPr id="13" name="repère Résultat : identiques"/>
          <p:cNvSpPr/>
          <p:nvPr/>
        </p:nvSpPr>
        <p:spPr>
          <a:xfrm>
            <a:off x="4956048" y="2926080"/>
            <a:ext cx="64008" cy="1371600"/>
          </a:xfrm>
          <a:prstGeom prst="rect">
            <a:avLst/>
          </a:prstGeom>
          <a:solidFill>
            <a:schemeClr val="accent5"/>
          </a:solidFill>
          <a:ln w="12700">
            <a:solidFill>
              <a:schemeClr val="accent5"/>
            </a:solidFill>
            <a:prstDash val="solid"/>
          </a:ln>
        </p:spPr>
      </p:sp>
      <p:sp>
        <p:nvSpPr>
          <p:cNvPr id="14" name="texte Résultat : identiques"/>
          <p:cNvSpPr txBox="1"/>
          <p:nvPr/>
        </p:nvSpPr>
        <p:spPr>
          <a:xfrm>
            <a:off x="5120640" y="2834640"/>
            <a:ext cx="3566160" cy="1554480"/>
          </a:xfrm>
          <a:prstGeom prst="rect">
            <a:avLst/>
          </a:prstGeom>
          <a:noFill/>
          <a:ln/>
        </p:spPr>
        <p:txBody>
          <a:bodyPr wrap="square" lIns="0" tIns="0" rIns="0" bIns="0" rtlCol="0" anchor="ctr"/>
          <a:lstStyle/>
          <a:p>
            <a:pPr indent="0" marL="0">
              <a:buNone/>
            </a:pPr>
            <a:r>
              <a:rPr lang="en-US" sz="1500" b="1" dirty="0">
                <a:solidFill>
                  <a:schemeClr val="tx1"/>
                </a:solidFill>
              </a:rPr>
              <a:t>Résultat : identiques</a:t>
            </a:r>
            <a:endParaRPr lang="en-US" sz="1500" dirty="0"/>
          </a:p>
          <a:p>
            <a:pPr indent="0" marL="0">
              <a:buNone/>
            </a:pPr>
            <a:r>
              <a:rPr lang="en-US" sz="1300" dirty="0">
                <a:solidFill>
                  <a:schemeClr val="tx2"/>
                </a:solidFill>
              </a:rPr>
              <a:t>L’image n’est ni corrompue ni modifiée : on peut l’installer</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Partie 3 : créer la VM ubuntu-srv</a:t>
            </a:r>
            <a:endParaRPr lang="en-US" sz="3000" dirty="0"/>
          </a:p>
        </p:txBody>
      </p:sp>
      <p:pic>
        <p:nvPicPr>
          <p:cNvPr id="3" name="Résumé de la VM dans VirtualBox" descr="Résumé de la VM dans VirtualBox">    </p:cNvPr>
          <p:cNvPicPr>
            <a:picLocks noChangeAspect="1"/>
          </p:cNvPicPr>
          <p:nvPr/>
        </p:nvPicPr>
        <p:blipFill>
          <a:blip r:embed="rId1"/>
          <a:stretch>
            <a:fillRect/>
          </a:stretch>
        </p:blipFill>
        <p:spPr>
          <a:xfrm>
            <a:off x="365760" y="988187"/>
            <a:ext cx="3749040" cy="3738626"/>
          </a:xfrm>
          <a:prstGeom prst="rect">
            <a:avLst/>
          </a:prstGeom>
        </p:spPr>
      </p:pic>
      <p:sp>
        <p:nvSpPr>
          <p:cNvPr id="4" name="cadre Résumé de la VM dans VirtualBox"/>
          <p:cNvSpPr/>
          <p:nvPr/>
        </p:nvSpPr>
        <p:spPr>
          <a:xfrm>
            <a:off x="365760" y="988187"/>
            <a:ext cx="3749040" cy="3738626"/>
          </a:xfrm>
          <a:prstGeom prst="rect">
            <a:avLst/>
          </a:prstGeom>
          <a:ln w="12700">
            <a:solidFill>
              <a:schemeClr val="accent4"/>
            </a:solidFill>
            <a:prstDash val="solid"/>
          </a:ln>
        </p:spPr>
      </p:sp>
      <p:sp>
        <p:nvSpPr>
          <p:cNvPr id="5" name="carte Système"/>
          <p:cNvSpPr/>
          <p:nvPr/>
        </p:nvSpPr>
        <p:spPr>
          <a:xfrm>
            <a:off x="4389120" y="960120"/>
            <a:ext cx="4389120" cy="676656"/>
          </a:xfrm>
          <a:prstGeom prst="roundRect">
            <a:avLst>
              <a:gd name="adj" fmla="val 10811"/>
            </a:avLst>
          </a:prstGeom>
          <a:solidFill>
            <a:schemeClr val="bg1"/>
          </a:solidFill>
          <a:ln w="19050">
            <a:solidFill>
              <a:schemeClr val="accent1"/>
            </a:solidFill>
            <a:prstDash val="solid"/>
          </a:ln>
        </p:spPr>
      </p:sp>
      <p:sp>
        <p:nvSpPr>
          <p:cNvPr id="6" name="repère Système"/>
          <p:cNvSpPr/>
          <p:nvPr/>
        </p:nvSpPr>
        <p:spPr>
          <a:xfrm>
            <a:off x="4498848" y="1097280"/>
            <a:ext cx="64008" cy="402336"/>
          </a:xfrm>
          <a:prstGeom prst="rect">
            <a:avLst/>
          </a:prstGeom>
          <a:solidFill>
            <a:schemeClr val="accent1"/>
          </a:solidFill>
          <a:ln w="12700">
            <a:solidFill>
              <a:schemeClr val="accent1"/>
            </a:solidFill>
            <a:prstDash val="solid"/>
          </a:ln>
        </p:spPr>
      </p:sp>
      <p:sp>
        <p:nvSpPr>
          <p:cNvPr id="7" name="texte Système"/>
          <p:cNvSpPr txBox="1"/>
          <p:nvPr/>
        </p:nvSpPr>
        <p:spPr>
          <a:xfrm>
            <a:off x="4663440" y="1005840"/>
            <a:ext cx="4023360" cy="585216"/>
          </a:xfrm>
          <a:prstGeom prst="rect">
            <a:avLst/>
          </a:prstGeom>
          <a:noFill/>
          <a:ln/>
        </p:spPr>
        <p:txBody>
          <a:bodyPr wrap="square" lIns="0" tIns="0" rIns="0" bIns="0" rtlCol="0" anchor="ctr"/>
          <a:lstStyle/>
          <a:p>
            <a:pPr indent="0" marL="0">
              <a:buNone/>
            </a:pPr>
            <a:r>
              <a:rPr lang="en-US" sz="1400" b="1" dirty="0">
                <a:solidFill>
                  <a:schemeClr val="tx1"/>
                </a:solidFill>
              </a:rPr>
              <a:t>Système</a:t>
            </a:r>
            <a:endParaRPr lang="en-US" sz="1400" dirty="0"/>
          </a:p>
          <a:p>
            <a:pPr indent="0" marL="0">
              <a:buNone/>
            </a:pPr>
            <a:r>
              <a:rPr lang="en-US" sz="1200" dirty="0">
                <a:solidFill>
                  <a:schemeClr val="tx2"/>
                </a:solidFill>
              </a:rPr>
              <a:t>Linux / Ubuntu 64 bits</a:t>
            </a:r>
            <a:endParaRPr lang="en-US" sz="1400" dirty="0"/>
          </a:p>
        </p:txBody>
      </p:sp>
      <p:sp>
        <p:nvSpPr>
          <p:cNvPr id="8" name="carte Mémoire et processeurs"/>
          <p:cNvSpPr/>
          <p:nvPr/>
        </p:nvSpPr>
        <p:spPr>
          <a:xfrm>
            <a:off x="4389120" y="1709928"/>
            <a:ext cx="4389120" cy="676656"/>
          </a:xfrm>
          <a:prstGeom prst="roundRect">
            <a:avLst>
              <a:gd name="adj" fmla="val 10811"/>
            </a:avLst>
          </a:prstGeom>
          <a:solidFill>
            <a:schemeClr val="bg1"/>
          </a:solidFill>
          <a:ln w="19050">
            <a:solidFill>
              <a:schemeClr val="accent3"/>
            </a:solidFill>
            <a:prstDash val="solid"/>
          </a:ln>
        </p:spPr>
      </p:sp>
      <p:sp>
        <p:nvSpPr>
          <p:cNvPr id="9" name="repère Mémoire et processeurs"/>
          <p:cNvSpPr/>
          <p:nvPr/>
        </p:nvSpPr>
        <p:spPr>
          <a:xfrm>
            <a:off x="4498848" y="1847088"/>
            <a:ext cx="64008" cy="402336"/>
          </a:xfrm>
          <a:prstGeom prst="rect">
            <a:avLst/>
          </a:prstGeom>
          <a:solidFill>
            <a:schemeClr val="accent3"/>
          </a:solidFill>
          <a:ln w="12700">
            <a:solidFill>
              <a:schemeClr val="accent3"/>
            </a:solidFill>
            <a:prstDash val="solid"/>
          </a:ln>
        </p:spPr>
      </p:sp>
      <p:sp>
        <p:nvSpPr>
          <p:cNvPr id="10" name="texte Mémoire et processeurs"/>
          <p:cNvSpPr txBox="1"/>
          <p:nvPr/>
        </p:nvSpPr>
        <p:spPr>
          <a:xfrm>
            <a:off x="4663440" y="1755648"/>
            <a:ext cx="4023360" cy="585216"/>
          </a:xfrm>
          <a:prstGeom prst="rect">
            <a:avLst/>
          </a:prstGeom>
          <a:noFill/>
          <a:ln/>
        </p:spPr>
        <p:txBody>
          <a:bodyPr wrap="square" lIns="0" tIns="0" rIns="0" bIns="0" rtlCol="0" anchor="ctr"/>
          <a:lstStyle/>
          <a:p>
            <a:pPr indent="0" marL="0">
              <a:buNone/>
            </a:pPr>
            <a:r>
              <a:rPr lang="en-US" sz="1400" b="1" dirty="0">
                <a:solidFill>
                  <a:schemeClr val="tx1"/>
                </a:solidFill>
              </a:rPr>
              <a:t>Mémoire et processeurs</a:t>
            </a:r>
            <a:endParaRPr lang="en-US" sz="1400" dirty="0"/>
          </a:p>
          <a:p>
            <a:pPr indent="0" marL="0">
              <a:buNone/>
            </a:pPr>
            <a:r>
              <a:rPr lang="en-US" sz="1200" dirty="0">
                <a:solidFill>
                  <a:schemeClr val="tx2"/>
                </a:solidFill>
              </a:rPr>
              <a:t>2048 Mo · 2 CPU</a:t>
            </a:r>
            <a:endParaRPr lang="en-US" sz="1400" dirty="0"/>
          </a:p>
        </p:txBody>
      </p:sp>
      <p:sp>
        <p:nvSpPr>
          <p:cNvPr id="11" name="carte Disque"/>
          <p:cNvSpPr/>
          <p:nvPr/>
        </p:nvSpPr>
        <p:spPr>
          <a:xfrm>
            <a:off x="4389120" y="2459736"/>
            <a:ext cx="4389120" cy="676656"/>
          </a:xfrm>
          <a:prstGeom prst="roundRect">
            <a:avLst>
              <a:gd name="adj" fmla="val 10811"/>
            </a:avLst>
          </a:prstGeom>
          <a:solidFill>
            <a:schemeClr val="bg1"/>
          </a:solidFill>
          <a:ln w="19050">
            <a:solidFill>
              <a:schemeClr val="accent1"/>
            </a:solidFill>
            <a:prstDash val="solid"/>
          </a:ln>
        </p:spPr>
      </p:sp>
      <p:sp>
        <p:nvSpPr>
          <p:cNvPr id="12" name="repère Disque"/>
          <p:cNvSpPr/>
          <p:nvPr/>
        </p:nvSpPr>
        <p:spPr>
          <a:xfrm>
            <a:off x="4498848" y="2596896"/>
            <a:ext cx="64008" cy="402336"/>
          </a:xfrm>
          <a:prstGeom prst="rect">
            <a:avLst/>
          </a:prstGeom>
          <a:solidFill>
            <a:schemeClr val="accent1"/>
          </a:solidFill>
          <a:ln w="12700">
            <a:solidFill>
              <a:schemeClr val="accent1"/>
            </a:solidFill>
            <a:prstDash val="solid"/>
          </a:ln>
        </p:spPr>
      </p:sp>
      <p:sp>
        <p:nvSpPr>
          <p:cNvPr id="13" name="texte Disque"/>
          <p:cNvSpPr txBox="1"/>
          <p:nvPr/>
        </p:nvSpPr>
        <p:spPr>
          <a:xfrm>
            <a:off x="4663440" y="2505456"/>
            <a:ext cx="4023360" cy="585216"/>
          </a:xfrm>
          <a:prstGeom prst="rect">
            <a:avLst/>
          </a:prstGeom>
          <a:noFill/>
          <a:ln/>
        </p:spPr>
        <p:txBody>
          <a:bodyPr wrap="square" lIns="0" tIns="0" rIns="0" bIns="0" rtlCol="0" anchor="ctr"/>
          <a:lstStyle/>
          <a:p>
            <a:pPr indent="0" marL="0">
              <a:buNone/>
            </a:pPr>
            <a:r>
              <a:rPr lang="en-US" sz="1400" b="1" dirty="0">
                <a:solidFill>
                  <a:schemeClr val="tx1"/>
                </a:solidFill>
              </a:rPr>
              <a:t>Disque</a:t>
            </a:r>
            <a:endParaRPr lang="en-US" sz="1400" dirty="0"/>
          </a:p>
          <a:p>
            <a:pPr indent="0" marL="0">
              <a:buNone/>
            </a:pPr>
            <a:r>
              <a:rPr lang="en-US" sz="1200" dirty="0">
                <a:solidFill>
                  <a:schemeClr val="tx2"/>
                </a:solidFill>
              </a:rPr>
              <a:t>VDI 25 Go, alloué dynamiquement</a:t>
            </a:r>
            <a:endParaRPr lang="en-US" sz="1400" dirty="0"/>
          </a:p>
        </p:txBody>
      </p:sp>
      <p:sp>
        <p:nvSpPr>
          <p:cNvPr id="14" name="carte Réseau"/>
          <p:cNvSpPr/>
          <p:nvPr/>
        </p:nvSpPr>
        <p:spPr>
          <a:xfrm>
            <a:off x="4389120" y="3209544"/>
            <a:ext cx="4389120" cy="676656"/>
          </a:xfrm>
          <a:prstGeom prst="roundRect">
            <a:avLst>
              <a:gd name="adj" fmla="val 10811"/>
            </a:avLst>
          </a:prstGeom>
          <a:solidFill>
            <a:schemeClr val="bg1"/>
          </a:solidFill>
          <a:ln w="19050">
            <a:solidFill>
              <a:schemeClr val="accent3"/>
            </a:solidFill>
            <a:prstDash val="solid"/>
          </a:ln>
        </p:spPr>
      </p:sp>
      <p:sp>
        <p:nvSpPr>
          <p:cNvPr id="15" name="repère Réseau"/>
          <p:cNvSpPr/>
          <p:nvPr/>
        </p:nvSpPr>
        <p:spPr>
          <a:xfrm>
            <a:off x="4498848" y="3346704"/>
            <a:ext cx="64008" cy="402336"/>
          </a:xfrm>
          <a:prstGeom prst="rect">
            <a:avLst/>
          </a:prstGeom>
          <a:solidFill>
            <a:schemeClr val="accent3"/>
          </a:solidFill>
          <a:ln w="12700">
            <a:solidFill>
              <a:schemeClr val="accent3"/>
            </a:solidFill>
            <a:prstDash val="solid"/>
          </a:ln>
        </p:spPr>
      </p:sp>
      <p:sp>
        <p:nvSpPr>
          <p:cNvPr id="16" name="texte Réseau"/>
          <p:cNvSpPr txBox="1"/>
          <p:nvPr/>
        </p:nvSpPr>
        <p:spPr>
          <a:xfrm>
            <a:off x="4663440" y="3255264"/>
            <a:ext cx="4023360" cy="585216"/>
          </a:xfrm>
          <a:prstGeom prst="rect">
            <a:avLst/>
          </a:prstGeom>
          <a:noFill/>
          <a:ln/>
        </p:spPr>
        <p:txBody>
          <a:bodyPr wrap="square" lIns="0" tIns="0" rIns="0" bIns="0" rtlCol="0" anchor="ctr"/>
          <a:lstStyle/>
          <a:p>
            <a:pPr indent="0" marL="0">
              <a:buNone/>
            </a:pPr>
            <a:r>
              <a:rPr lang="en-US" sz="1400" b="1" dirty="0">
                <a:solidFill>
                  <a:schemeClr val="tx1"/>
                </a:solidFill>
              </a:rPr>
              <a:t>Réseau</a:t>
            </a:r>
            <a:endParaRPr lang="en-US" sz="1400" dirty="0"/>
          </a:p>
          <a:p>
            <a:pPr indent="0" marL="0">
              <a:buNone/>
            </a:pPr>
            <a:r>
              <a:rPr lang="en-US" sz="1200" dirty="0">
                <a:solidFill>
                  <a:schemeClr val="tx2"/>
                </a:solidFill>
              </a:rPr>
              <a:t>NAT (carte 1)</a:t>
            </a:r>
            <a:endParaRPr lang="en-US" sz="1400" dirty="0"/>
          </a:p>
        </p:txBody>
      </p:sp>
      <p:sp>
        <p:nvSpPr>
          <p:cNvPr id="17" name="carte Installation sans surveillance"/>
          <p:cNvSpPr/>
          <p:nvPr/>
        </p:nvSpPr>
        <p:spPr>
          <a:xfrm>
            <a:off x="4389120" y="3959352"/>
            <a:ext cx="4389120" cy="676656"/>
          </a:xfrm>
          <a:prstGeom prst="roundRect">
            <a:avLst>
              <a:gd name="adj" fmla="val 10811"/>
            </a:avLst>
          </a:prstGeom>
          <a:solidFill>
            <a:schemeClr val="bg1"/>
          </a:solidFill>
          <a:ln w="19050">
            <a:solidFill>
              <a:schemeClr val="accent1"/>
            </a:solidFill>
            <a:prstDash val="solid"/>
          </a:ln>
        </p:spPr>
      </p:sp>
      <p:sp>
        <p:nvSpPr>
          <p:cNvPr id="18" name="repère Installation sans surveillance"/>
          <p:cNvSpPr/>
          <p:nvPr/>
        </p:nvSpPr>
        <p:spPr>
          <a:xfrm>
            <a:off x="4498848" y="4096512"/>
            <a:ext cx="64008" cy="402336"/>
          </a:xfrm>
          <a:prstGeom prst="rect">
            <a:avLst/>
          </a:prstGeom>
          <a:solidFill>
            <a:schemeClr val="accent1"/>
          </a:solidFill>
          <a:ln w="12700">
            <a:solidFill>
              <a:schemeClr val="accent1"/>
            </a:solidFill>
            <a:prstDash val="solid"/>
          </a:ln>
        </p:spPr>
      </p:sp>
      <p:sp>
        <p:nvSpPr>
          <p:cNvPr id="19" name="texte Installation sans surveillance"/>
          <p:cNvSpPr txBox="1"/>
          <p:nvPr/>
        </p:nvSpPr>
        <p:spPr>
          <a:xfrm>
            <a:off x="4663440" y="4005072"/>
            <a:ext cx="4023360" cy="585216"/>
          </a:xfrm>
          <a:prstGeom prst="rect">
            <a:avLst/>
          </a:prstGeom>
          <a:noFill/>
          <a:ln/>
        </p:spPr>
        <p:txBody>
          <a:bodyPr wrap="square" lIns="0" tIns="0" rIns="0" bIns="0" rtlCol="0" anchor="ctr"/>
          <a:lstStyle/>
          <a:p>
            <a:pPr indent="0" marL="0">
              <a:buNone/>
            </a:pPr>
            <a:r>
              <a:rPr lang="en-US" sz="1400" b="1" dirty="0">
                <a:solidFill>
                  <a:schemeClr val="tx1"/>
                </a:solidFill>
              </a:rPr>
              <a:t>Installation sans surveillance</a:t>
            </a:r>
            <a:endParaRPr lang="en-US" sz="1400" dirty="0"/>
          </a:p>
          <a:p>
            <a:pPr indent="0" marL="0">
              <a:buNone/>
            </a:pPr>
            <a:r>
              <a:rPr lang="en-US" sz="1200" dirty="0">
                <a:solidFill>
                  <a:schemeClr val="tx2"/>
                </a:solidFill>
              </a:rPr>
              <a:t>désactivée, pour tout choisir moi-même</a:t>
            </a:r>
            <a:endParaRPr lang="en-US" sz="14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NAT et redirection de port</a:t>
            </a:r>
            <a:endParaRPr lang="en-US" sz="3000" dirty="0"/>
          </a:p>
        </p:txBody>
      </p:sp>
      <p:pic>
        <p:nvPicPr>
          <p:cNvPr id="3" name="Règle de redirection SSH" descr="Règle de redirection SSH">    </p:cNvPr>
          <p:cNvPicPr>
            <a:picLocks noChangeAspect="1"/>
          </p:cNvPicPr>
          <p:nvPr/>
        </p:nvPicPr>
        <p:blipFill>
          <a:blip r:embed="rId1"/>
          <a:stretch>
            <a:fillRect/>
          </a:stretch>
        </p:blipFill>
        <p:spPr>
          <a:xfrm>
            <a:off x="365760" y="940186"/>
            <a:ext cx="8412480" cy="1960108"/>
          </a:xfrm>
          <a:prstGeom prst="rect">
            <a:avLst/>
          </a:prstGeom>
        </p:spPr>
      </p:pic>
      <p:sp>
        <p:nvSpPr>
          <p:cNvPr id="4" name="cadre Règle de redirection SSH"/>
          <p:cNvSpPr/>
          <p:nvPr/>
        </p:nvSpPr>
        <p:spPr>
          <a:xfrm>
            <a:off x="365760" y="940186"/>
            <a:ext cx="8412480" cy="1960108"/>
          </a:xfrm>
          <a:prstGeom prst="rect">
            <a:avLst/>
          </a:prstGeom>
          <a:ln w="12700">
            <a:solidFill>
              <a:schemeClr val="accent4"/>
            </a:solidFill>
            <a:prstDash val="solid"/>
          </a:ln>
        </p:spPr>
      </p:sp>
      <p:sp>
        <p:nvSpPr>
          <p:cNvPr id="5" name="carte Règle initiale"/>
          <p:cNvSpPr/>
          <p:nvPr/>
        </p:nvSpPr>
        <p:spPr>
          <a:xfrm>
            <a:off x="365760" y="3154680"/>
            <a:ext cx="2697480" cy="1371600"/>
          </a:xfrm>
          <a:prstGeom prst="roundRect">
            <a:avLst>
              <a:gd name="adj" fmla="val 5333"/>
            </a:avLst>
          </a:prstGeom>
          <a:solidFill>
            <a:schemeClr val="bg1"/>
          </a:solidFill>
          <a:ln w="19050">
            <a:solidFill>
              <a:schemeClr val="accent2"/>
            </a:solidFill>
            <a:prstDash val="solid"/>
          </a:ln>
        </p:spPr>
      </p:sp>
      <p:sp>
        <p:nvSpPr>
          <p:cNvPr id="6" name="repère Règle initiale"/>
          <p:cNvSpPr/>
          <p:nvPr/>
        </p:nvSpPr>
        <p:spPr>
          <a:xfrm>
            <a:off x="475488" y="3291840"/>
            <a:ext cx="64008" cy="1097280"/>
          </a:xfrm>
          <a:prstGeom prst="rect">
            <a:avLst/>
          </a:prstGeom>
          <a:solidFill>
            <a:schemeClr val="accent2"/>
          </a:solidFill>
          <a:ln w="12700">
            <a:solidFill>
              <a:schemeClr val="accent2"/>
            </a:solidFill>
            <a:prstDash val="solid"/>
          </a:ln>
        </p:spPr>
      </p:sp>
      <p:sp>
        <p:nvSpPr>
          <p:cNvPr id="7" name="texte Règle initiale"/>
          <p:cNvSpPr txBox="1"/>
          <p:nvPr/>
        </p:nvSpPr>
        <p:spPr>
          <a:xfrm>
            <a:off x="640080" y="3200400"/>
            <a:ext cx="2331720" cy="1280160"/>
          </a:xfrm>
          <a:prstGeom prst="rect">
            <a:avLst/>
          </a:prstGeom>
          <a:noFill/>
          <a:ln/>
        </p:spPr>
        <p:txBody>
          <a:bodyPr wrap="square" lIns="0" tIns="0" rIns="0" bIns="0" rtlCol="0" anchor="ctr"/>
          <a:lstStyle/>
          <a:p>
            <a:pPr indent="0" marL="0">
              <a:buNone/>
            </a:pPr>
            <a:r>
              <a:rPr lang="en-US" sz="1500" b="1" dirty="0">
                <a:solidFill>
                  <a:schemeClr val="tx1"/>
                </a:solidFill>
              </a:rPr>
              <a:t>Règle initiale</a:t>
            </a:r>
            <a:endParaRPr lang="en-US" sz="1500" dirty="0"/>
          </a:p>
          <a:p>
            <a:pPr indent="0" marL="0">
              <a:buNone/>
            </a:pPr>
            <a:r>
              <a:rPr lang="en-US" sz="1300" dirty="0">
                <a:solidFill>
                  <a:schemeClr val="tx2"/>
                </a:solidFill>
              </a:rPr>
              <a:t>« Rule 1 » créée par l’interface</a:t>
            </a:r>
            <a:endParaRPr lang="en-US" sz="1500" dirty="0"/>
          </a:p>
        </p:txBody>
      </p:sp>
      <p:sp>
        <p:nvSpPr>
          <p:cNvPr id="8" name="carte Règle corrigée"/>
          <p:cNvSpPr/>
          <p:nvPr/>
        </p:nvSpPr>
        <p:spPr>
          <a:xfrm>
            <a:off x="3223260" y="3154680"/>
            <a:ext cx="2697480" cy="1371600"/>
          </a:xfrm>
          <a:prstGeom prst="roundRect">
            <a:avLst>
              <a:gd name="adj" fmla="val 5333"/>
            </a:avLst>
          </a:prstGeom>
          <a:solidFill>
            <a:schemeClr val="bg1"/>
          </a:solidFill>
          <a:ln w="19050">
            <a:solidFill>
              <a:schemeClr val="accent1"/>
            </a:solidFill>
            <a:prstDash val="solid"/>
          </a:ln>
        </p:spPr>
      </p:sp>
      <p:sp>
        <p:nvSpPr>
          <p:cNvPr id="9" name="repère Règle corrigée"/>
          <p:cNvSpPr/>
          <p:nvPr/>
        </p:nvSpPr>
        <p:spPr>
          <a:xfrm>
            <a:off x="3332988" y="3291840"/>
            <a:ext cx="64008" cy="1097280"/>
          </a:xfrm>
          <a:prstGeom prst="rect">
            <a:avLst/>
          </a:prstGeom>
          <a:solidFill>
            <a:schemeClr val="accent1"/>
          </a:solidFill>
          <a:ln w="12700">
            <a:solidFill>
              <a:schemeClr val="accent1"/>
            </a:solidFill>
            <a:prstDash val="solid"/>
          </a:ln>
        </p:spPr>
      </p:sp>
      <p:sp>
        <p:nvSpPr>
          <p:cNvPr id="10" name="texte Règle corrigée"/>
          <p:cNvSpPr txBox="1"/>
          <p:nvPr/>
        </p:nvSpPr>
        <p:spPr>
          <a:xfrm>
            <a:off x="3497580" y="3200400"/>
            <a:ext cx="2331720" cy="1280160"/>
          </a:xfrm>
          <a:prstGeom prst="rect">
            <a:avLst/>
          </a:prstGeom>
          <a:noFill/>
          <a:ln/>
        </p:spPr>
        <p:txBody>
          <a:bodyPr wrap="square" lIns="0" tIns="0" rIns="0" bIns="0" rtlCol="0" anchor="ctr"/>
          <a:lstStyle/>
          <a:p>
            <a:pPr indent="0" marL="0">
              <a:buNone/>
            </a:pPr>
            <a:r>
              <a:rPr lang="en-US" sz="1500" b="1" dirty="0">
                <a:solidFill>
                  <a:schemeClr val="tx1"/>
                </a:solidFill>
              </a:rPr>
              <a:t>Règle corrigée</a:t>
            </a:r>
            <a:endParaRPr lang="en-US" sz="1500" dirty="0"/>
          </a:p>
          <a:p>
            <a:pPr indent="0" marL="0">
              <a:buNone/>
            </a:pPr>
            <a:r>
              <a:rPr lang="en-US" sz="1300" dirty="0">
                <a:solidFill>
                  <a:schemeClr val="tx2"/>
                </a:solidFill>
              </a:rPr>
              <a:t>nom « ssh » : 127.0.0.1:2222 → 22</a:t>
            </a:r>
            <a:endParaRPr lang="en-US" sz="1500" dirty="0"/>
          </a:p>
        </p:txBody>
      </p:sp>
      <p:sp>
        <p:nvSpPr>
          <p:cNvPr id="11" name="carte Pourquoi"/>
          <p:cNvSpPr/>
          <p:nvPr/>
        </p:nvSpPr>
        <p:spPr>
          <a:xfrm>
            <a:off x="6080760" y="3154680"/>
            <a:ext cx="2697480" cy="1371600"/>
          </a:xfrm>
          <a:prstGeom prst="roundRect">
            <a:avLst>
              <a:gd name="adj" fmla="val 5333"/>
            </a:avLst>
          </a:prstGeom>
          <a:solidFill>
            <a:schemeClr val="bg1"/>
          </a:solidFill>
          <a:ln w="19050">
            <a:solidFill>
              <a:schemeClr val="accent3"/>
            </a:solidFill>
            <a:prstDash val="solid"/>
          </a:ln>
        </p:spPr>
      </p:sp>
      <p:sp>
        <p:nvSpPr>
          <p:cNvPr id="12" name="repère Pourquoi"/>
          <p:cNvSpPr/>
          <p:nvPr/>
        </p:nvSpPr>
        <p:spPr>
          <a:xfrm>
            <a:off x="6190488" y="3291840"/>
            <a:ext cx="64008" cy="1097280"/>
          </a:xfrm>
          <a:prstGeom prst="rect">
            <a:avLst/>
          </a:prstGeom>
          <a:solidFill>
            <a:schemeClr val="accent3"/>
          </a:solidFill>
          <a:ln w="12700">
            <a:solidFill>
              <a:schemeClr val="accent3"/>
            </a:solidFill>
            <a:prstDash val="solid"/>
          </a:ln>
        </p:spPr>
      </p:sp>
      <p:sp>
        <p:nvSpPr>
          <p:cNvPr id="13" name="texte Pourquoi"/>
          <p:cNvSpPr txBox="1"/>
          <p:nvPr/>
        </p:nvSpPr>
        <p:spPr>
          <a:xfrm>
            <a:off x="6355080" y="3200400"/>
            <a:ext cx="2331720" cy="1280160"/>
          </a:xfrm>
          <a:prstGeom prst="rect">
            <a:avLst/>
          </a:prstGeom>
          <a:noFill/>
          <a:ln/>
        </p:spPr>
        <p:txBody>
          <a:bodyPr wrap="square" lIns="0" tIns="0" rIns="0" bIns="0" rtlCol="0" anchor="ctr"/>
          <a:lstStyle/>
          <a:p>
            <a:pPr indent="0" marL="0">
              <a:buNone/>
            </a:pPr>
            <a:r>
              <a:rPr lang="en-US" sz="1500" b="1" dirty="0">
                <a:solidFill>
                  <a:schemeClr val="tx1"/>
                </a:solidFill>
              </a:rPr>
              <a:t>Pourquoi</a:t>
            </a:r>
            <a:endParaRPr lang="en-US" sz="1500" dirty="0"/>
          </a:p>
          <a:p>
            <a:pPr indent="0" marL="0">
              <a:buNone/>
            </a:pPr>
            <a:r>
              <a:rPr lang="en-US" sz="1300" dirty="0">
                <a:solidFill>
                  <a:schemeClr val="tx2"/>
                </a:solidFill>
              </a:rPr>
              <a:t>l’hôte n’atteint pas 10.0.2.15 en NAT</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Partie 4 : installer Ubuntu Server</a:t>
            </a:r>
            <a:endParaRPr lang="en-US" sz="3000" dirty="0"/>
          </a:p>
        </p:txBody>
      </p:sp>
      <p:pic>
        <p:nvPicPr>
          <p:cNvPr id="3" name="Première connexion sur la VM" descr="Première connexion sur la VM">    </p:cNvPr>
          <p:cNvPicPr>
            <a:picLocks noChangeAspect="1"/>
          </p:cNvPicPr>
          <p:nvPr/>
        </p:nvPicPr>
        <p:blipFill>
          <a:blip r:embed="rId1"/>
          <a:stretch>
            <a:fillRect/>
          </a:stretch>
        </p:blipFill>
        <p:spPr>
          <a:xfrm>
            <a:off x="476069" y="960120"/>
            <a:ext cx="3619862" cy="3794760"/>
          </a:xfrm>
          <a:prstGeom prst="rect">
            <a:avLst/>
          </a:prstGeom>
        </p:spPr>
      </p:pic>
      <p:sp>
        <p:nvSpPr>
          <p:cNvPr id="4" name="cadre Première connexion sur la VM"/>
          <p:cNvSpPr/>
          <p:nvPr/>
        </p:nvSpPr>
        <p:spPr>
          <a:xfrm>
            <a:off x="476069" y="960120"/>
            <a:ext cx="3619862" cy="3794760"/>
          </a:xfrm>
          <a:prstGeom prst="rect">
            <a:avLst/>
          </a:prstGeom>
          <a:ln w="12700">
            <a:solidFill>
              <a:schemeClr val="accent4"/>
            </a:solidFill>
            <a:prstDash val="solid"/>
          </a:ln>
        </p:spPr>
      </p:sp>
      <p:sp>
        <p:nvSpPr>
          <p:cNvPr id="5" name="carte Clavier et réseau"/>
          <p:cNvSpPr/>
          <p:nvPr/>
        </p:nvSpPr>
        <p:spPr>
          <a:xfrm>
            <a:off x="4480560" y="960120"/>
            <a:ext cx="4297680" cy="676656"/>
          </a:xfrm>
          <a:prstGeom prst="roundRect">
            <a:avLst>
              <a:gd name="adj" fmla="val 10811"/>
            </a:avLst>
          </a:prstGeom>
          <a:solidFill>
            <a:schemeClr val="bg1"/>
          </a:solidFill>
          <a:ln w="19050">
            <a:solidFill>
              <a:schemeClr val="accent1"/>
            </a:solidFill>
            <a:prstDash val="solid"/>
          </a:ln>
        </p:spPr>
      </p:sp>
      <p:sp>
        <p:nvSpPr>
          <p:cNvPr id="6" name="repère Clavier et réseau"/>
          <p:cNvSpPr/>
          <p:nvPr/>
        </p:nvSpPr>
        <p:spPr>
          <a:xfrm>
            <a:off x="4590288" y="1097280"/>
            <a:ext cx="64008" cy="402336"/>
          </a:xfrm>
          <a:prstGeom prst="rect">
            <a:avLst/>
          </a:prstGeom>
          <a:solidFill>
            <a:schemeClr val="accent1"/>
          </a:solidFill>
          <a:ln w="12700">
            <a:solidFill>
              <a:schemeClr val="accent1"/>
            </a:solidFill>
            <a:prstDash val="solid"/>
          </a:ln>
        </p:spPr>
      </p:sp>
      <p:sp>
        <p:nvSpPr>
          <p:cNvPr id="7" name="texte Clavier et réseau"/>
          <p:cNvSpPr txBox="1"/>
          <p:nvPr/>
        </p:nvSpPr>
        <p:spPr>
          <a:xfrm>
            <a:off x="4754880" y="1005840"/>
            <a:ext cx="3931920" cy="585216"/>
          </a:xfrm>
          <a:prstGeom prst="rect">
            <a:avLst/>
          </a:prstGeom>
          <a:noFill/>
          <a:ln/>
        </p:spPr>
        <p:txBody>
          <a:bodyPr wrap="square" lIns="0" tIns="0" rIns="0" bIns="0" rtlCol="0" anchor="ctr"/>
          <a:lstStyle/>
          <a:p>
            <a:pPr indent="0" marL="0">
              <a:buNone/>
            </a:pPr>
            <a:r>
              <a:rPr lang="en-US" sz="1400" b="1" dirty="0">
                <a:solidFill>
                  <a:schemeClr val="tx1"/>
                </a:solidFill>
              </a:rPr>
              <a:t>Clavier et réseau</a:t>
            </a:r>
            <a:endParaRPr lang="en-US" sz="1400" dirty="0"/>
          </a:p>
          <a:p>
            <a:pPr indent="0" marL="0">
              <a:buNone/>
            </a:pPr>
            <a:r>
              <a:rPr lang="en-US" sz="1200" dirty="0">
                <a:solidFill>
                  <a:schemeClr val="tx2"/>
                </a:solidFill>
              </a:rPr>
              <a:t>AZERTY · DHCP : 10.0.2.15/24</a:t>
            </a:r>
            <a:endParaRPr lang="en-US" sz="1400" dirty="0"/>
          </a:p>
        </p:txBody>
      </p:sp>
      <p:sp>
        <p:nvSpPr>
          <p:cNvPr id="8" name="carte Stockage"/>
          <p:cNvSpPr/>
          <p:nvPr/>
        </p:nvSpPr>
        <p:spPr>
          <a:xfrm>
            <a:off x="4480560" y="1709928"/>
            <a:ext cx="4297680" cy="676656"/>
          </a:xfrm>
          <a:prstGeom prst="roundRect">
            <a:avLst>
              <a:gd name="adj" fmla="val 10811"/>
            </a:avLst>
          </a:prstGeom>
          <a:solidFill>
            <a:schemeClr val="bg1"/>
          </a:solidFill>
          <a:ln w="19050">
            <a:solidFill>
              <a:schemeClr val="accent3"/>
            </a:solidFill>
            <a:prstDash val="solid"/>
          </a:ln>
        </p:spPr>
      </p:sp>
      <p:sp>
        <p:nvSpPr>
          <p:cNvPr id="9" name="repère Stockage"/>
          <p:cNvSpPr/>
          <p:nvPr/>
        </p:nvSpPr>
        <p:spPr>
          <a:xfrm>
            <a:off x="4590288" y="1847088"/>
            <a:ext cx="64008" cy="402336"/>
          </a:xfrm>
          <a:prstGeom prst="rect">
            <a:avLst/>
          </a:prstGeom>
          <a:solidFill>
            <a:schemeClr val="accent3"/>
          </a:solidFill>
          <a:ln w="12700">
            <a:solidFill>
              <a:schemeClr val="accent3"/>
            </a:solidFill>
            <a:prstDash val="solid"/>
          </a:ln>
        </p:spPr>
      </p:sp>
      <p:sp>
        <p:nvSpPr>
          <p:cNvPr id="10" name="texte Stockage"/>
          <p:cNvSpPr txBox="1"/>
          <p:nvPr/>
        </p:nvSpPr>
        <p:spPr>
          <a:xfrm>
            <a:off x="4754880" y="1755648"/>
            <a:ext cx="3931920" cy="585216"/>
          </a:xfrm>
          <a:prstGeom prst="rect">
            <a:avLst/>
          </a:prstGeom>
          <a:noFill/>
          <a:ln/>
        </p:spPr>
        <p:txBody>
          <a:bodyPr wrap="square" lIns="0" tIns="0" rIns="0" bIns="0" rtlCol="0" anchor="ctr"/>
          <a:lstStyle/>
          <a:p>
            <a:pPr indent="0" marL="0">
              <a:buNone/>
            </a:pPr>
            <a:r>
              <a:rPr lang="en-US" sz="1400" b="1" dirty="0">
                <a:solidFill>
                  <a:schemeClr val="tx1"/>
                </a:solidFill>
              </a:rPr>
              <a:t>Stockage</a:t>
            </a:r>
            <a:endParaRPr lang="en-US" sz="1400" dirty="0"/>
          </a:p>
          <a:p>
            <a:pPr indent="0" marL="0">
              <a:buNone/>
            </a:pPr>
            <a:r>
              <a:rPr lang="en-US" sz="1200" dirty="0">
                <a:solidFill>
                  <a:schemeClr val="tx2"/>
                </a:solidFill>
              </a:rPr>
              <a:t>tout le disque, LVM (/ = 11,5 Go)</a:t>
            </a:r>
            <a:endParaRPr lang="en-US" sz="1400" dirty="0"/>
          </a:p>
        </p:txBody>
      </p:sp>
      <p:sp>
        <p:nvSpPr>
          <p:cNvPr id="11" name="carte Profil"/>
          <p:cNvSpPr/>
          <p:nvPr/>
        </p:nvSpPr>
        <p:spPr>
          <a:xfrm>
            <a:off x="4480560" y="2459736"/>
            <a:ext cx="4297680" cy="676656"/>
          </a:xfrm>
          <a:prstGeom prst="roundRect">
            <a:avLst>
              <a:gd name="adj" fmla="val 10811"/>
            </a:avLst>
          </a:prstGeom>
          <a:solidFill>
            <a:schemeClr val="bg1"/>
          </a:solidFill>
          <a:ln w="19050">
            <a:solidFill>
              <a:schemeClr val="accent1"/>
            </a:solidFill>
            <a:prstDash val="solid"/>
          </a:ln>
        </p:spPr>
      </p:sp>
      <p:sp>
        <p:nvSpPr>
          <p:cNvPr id="12" name="repère Profil"/>
          <p:cNvSpPr/>
          <p:nvPr/>
        </p:nvSpPr>
        <p:spPr>
          <a:xfrm>
            <a:off x="4590288" y="2596896"/>
            <a:ext cx="64008" cy="402336"/>
          </a:xfrm>
          <a:prstGeom prst="rect">
            <a:avLst/>
          </a:prstGeom>
          <a:solidFill>
            <a:schemeClr val="accent1"/>
          </a:solidFill>
          <a:ln w="12700">
            <a:solidFill>
              <a:schemeClr val="accent1"/>
            </a:solidFill>
            <a:prstDash val="solid"/>
          </a:ln>
        </p:spPr>
      </p:sp>
      <p:sp>
        <p:nvSpPr>
          <p:cNvPr id="13" name="texte Profil"/>
          <p:cNvSpPr txBox="1"/>
          <p:nvPr/>
        </p:nvSpPr>
        <p:spPr>
          <a:xfrm>
            <a:off x="4754880" y="2505456"/>
            <a:ext cx="3931920" cy="585216"/>
          </a:xfrm>
          <a:prstGeom prst="rect">
            <a:avLst/>
          </a:prstGeom>
          <a:noFill/>
          <a:ln/>
        </p:spPr>
        <p:txBody>
          <a:bodyPr wrap="square" lIns="0" tIns="0" rIns="0" bIns="0" rtlCol="0" anchor="ctr"/>
          <a:lstStyle/>
          <a:p>
            <a:pPr indent="0" marL="0">
              <a:buNone/>
            </a:pPr>
            <a:r>
              <a:rPr lang="en-US" sz="1400" b="1" dirty="0">
                <a:solidFill>
                  <a:schemeClr val="tx1"/>
                </a:solidFill>
              </a:rPr>
              <a:t>Profil</a:t>
            </a:r>
            <a:endParaRPr lang="en-US" sz="1400" dirty="0"/>
          </a:p>
          <a:p>
            <a:pPr indent="0" marL="0">
              <a:buNone/>
            </a:pPr>
            <a:r>
              <a:rPr lang="en-US" sz="1200" dirty="0">
                <a:solidFill>
                  <a:schemeClr val="tx2"/>
                </a:solidFill>
              </a:rPr>
              <a:t>serveur ubuntu-srv, utilisateur etudiant</a:t>
            </a:r>
            <a:endParaRPr lang="en-US" sz="1400" dirty="0"/>
          </a:p>
        </p:txBody>
      </p:sp>
      <p:sp>
        <p:nvSpPr>
          <p:cNvPr id="14" name="carte OpenSSH"/>
          <p:cNvSpPr/>
          <p:nvPr/>
        </p:nvSpPr>
        <p:spPr>
          <a:xfrm>
            <a:off x="4480560" y="3209544"/>
            <a:ext cx="4297680" cy="676656"/>
          </a:xfrm>
          <a:prstGeom prst="roundRect">
            <a:avLst>
              <a:gd name="adj" fmla="val 10811"/>
            </a:avLst>
          </a:prstGeom>
          <a:solidFill>
            <a:schemeClr val="bg1"/>
          </a:solidFill>
          <a:ln w="19050">
            <a:solidFill>
              <a:schemeClr val="accent3"/>
            </a:solidFill>
            <a:prstDash val="solid"/>
          </a:ln>
        </p:spPr>
      </p:sp>
      <p:sp>
        <p:nvSpPr>
          <p:cNvPr id="15" name="repère OpenSSH"/>
          <p:cNvSpPr/>
          <p:nvPr/>
        </p:nvSpPr>
        <p:spPr>
          <a:xfrm>
            <a:off x="4590288" y="3346704"/>
            <a:ext cx="64008" cy="402336"/>
          </a:xfrm>
          <a:prstGeom prst="rect">
            <a:avLst/>
          </a:prstGeom>
          <a:solidFill>
            <a:schemeClr val="accent3"/>
          </a:solidFill>
          <a:ln w="12700">
            <a:solidFill>
              <a:schemeClr val="accent3"/>
            </a:solidFill>
            <a:prstDash val="solid"/>
          </a:ln>
        </p:spPr>
      </p:sp>
      <p:sp>
        <p:nvSpPr>
          <p:cNvPr id="16" name="texte OpenSSH"/>
          <p:cNvSpPr txBox="1"/>
          <p:nvPr/>
        </p:nvSpPr>
        <p:spPr>
          <a:xfrm>
            <a:off x="4754880" y="3255264"/>
            <a:ext cx="3931920" cy="585216"/>
          </a:xfrm>
          <a:prstGeom prst="rect">
            <a:avLst/>
          </a:prstGeom>
          <a:noFill/>
          <a:ln/>
        </p:spPr>
        <p:txBody>
          <a:bodyPr wrap="square" lIns="0" tIns="0" rIns="0" bIns="0" rtlCol="0" anchor="ctr"/>
          <a:lstStyle/>
          <a:p>
            <a:pPr indent="0" marL="0">
              <a:buNone/>
            </a:pPr>
            <a:r>
              <a:rPr lang="en-US" sz="1400" b="1" dirty="0">
                <a:solidFill>
                  <a:schemeClr val="tx1"/>
                </a:solidFill>
              </a:rPr>
              <a:t>OpenSSH</a:t>
            </a:r>
            <a:endParaRPr lang="en-US" sz="1400" dirty="0"/>
          </a:p>
          <a:p>
            <a:pPr indent="0" marL="0">
              <a:buNone/>
            </a:pPr>
            <a:r>
              <a:rPr lang="en-US" sz="1200" dirty="0">
                <a:solidFill>
                  <a:schemeClr val="tx2"/>
                </a:solidFill>
              </a:rPr>
              <a:t>serveur SSH installé dès le départ</a:t>
            </a:r>
            <a:endParaRPr lang="en-US" sz="1400" dirty="0"/>
          </a:p>
        </p:txBody>
      </p:sp>
      <p:sp>
        <p:nvSpPr>
          <p:cNvPr id="17" name="carte Durée"/>
          <p:cNvSpPr/>
          <p:nvPr/>
        </p:nvSpPr>
        <p:spPr>
          <a:xfrm>
            <a:off x="4480560" y="3959352"/>
            <a:ext cx="4297680" cy="676656"/>
          </a:xfrm>
          <a:prstGeom prst="roundRect">
            <a:avLst>
              <a:gd name="adj" fmla="val 10811"/>
            </a:avLst>
          </a:prstGeom>
          <a:solidFill>
            <a:schemeClr val="bg1"/>
          </a:solidFill>
          <a:ln w="19050">
            <a:solidFill>
              <a:schemeClr val="accent1"/>
            </a:solidFill>
            <a:prstDash val="solid"/>
          </a:ln>
        </p:spPr>
      </p:sp>
      <p:sp>
        <p:nvSpPr>
          <p:cNvPr id="18" name="repère Durée"/>
          <p:cNvSpPr/>
          <p:nvPr/>
        </p:nvSpPr>
        <p:spPr>
          <a:xfrm>
            <a:off x="4590288" y="4096512"/>
            <a:ext cx="64008" cy="402336"/>
          </a:xfrm>
          <a:prstGeom prst="rect">
            <a:avLst/>
          </a:prstGeom>
          <a:solidFill>
            <a:schemeClr val="accent1"/>
          </a:solidFill>
          <a:ln w="12700">
            <a:solidFill>
              <a:schemeClr val="accent1"/>
            </a:solidFill>
            <a:prstDash val="solid"/>
          </a:ln>
        </p:spPr>
      </p:sp>
      <p:sp>
        <p:nvSpPr>
          <p:cNvPr id="19" name="texte Durée"/>
          <p:cNvSpPr txBox="1"/>
          <p:nvPr/>
        </p:nvSpPr>
        <p:spPr>
          <a:xfrm>
            <a:off x="4754880" y="4005072"/>
            <a:ext cx="3931920" cy="585216"/>
          </a:xfrm>
          <a:prstGeom prst="rect">
            <a:avLst/>
          </a:prstGeom>
          <a:noFill/>
          <a:ln/>
        </p:spPr>
        <p:txBody>
          <a:bodyPr wrap="square" lIns="0" tIns="0" rIns="0" bIns="0" rtlCol="0" anchor="ctr"/>
          <a:lstStyle/>
          <a:p>
            <a:pPr indent="0" marL="0">
              <a:buNone/>
            </a:pPr>
            <a:r>
              <a:rPr lang="en-US" sz="1400" b="1" dirty="0">
                <a:solidFill>
                  <a:schemeClr val="tx1"/>
                </a:solidFill>
              </a:rPr>
              <a:t>Durée</a:t>
            </a:r>
            <a:endParaRPr lang="en-US" sz="1400" dirty="0"/>
          </a:p>
          <a:p>
            <a:pPr indent="0" marL="0">
              <a:buNone/>
            </a:pPr>
            <a:r>
              <a:rPr lang="en-US" sz="1200" dirty="0">
                <a:solidFill>
                  <a:schemeClr val="tx2"/>
                </a:solidFill>
              </a:rPr>
              <a:t>environ 35 à 40 min (estimée)</a:t>
            </a:r>
            <a:endParaRPr lang="en-US" sz="14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Partie 5 : réseau de la VM</a:t>
            </a:r>
            <a:endParaRPr lang="en-US" sz="3000" dirty="0"/>
          </a:p>
        </p:txBody>
      </p:sp>
      <p:pic>
        <p:nvPicPr>
          <p:cNvPr id="3" name="Commandes réseau dans la VM" descr="Commandes réseau dans la VM">    </p:cNvPr>
          <p:cNvPicPr>
            <a:picLocks noChangeAspect="1"/>
          </p:cNvPicPr>
          <p:nvPr/>
        </p:nvPicPr>
        <p:blipFill>
          <a:blip r:embed="rId1"/>
          <a:stretch>
            <a:fillRect/>
          </a:stretch>
        </p:blipFill>
        <p:spPr>
          <a:xfrm>
            <a:off x="365760" y="1367048"/>
            <a:ext cx="4937760" cy="2935184"/>
          </a:xfrm>
          <a:prstGeom prst="rect">
            <a:avLst/>
          </a:prstGeom>
        </p:spPr>
      </p:pic>
      <p:sp>
        <p:nvSpPr>
          <p:cNvPr id="4" name="cadre Commandes réseau dans la VM"/>
          <p:cNvSpPr/>
          <p:nvPr/>
        </p:nvSpPr>
        <p:spPr>
          <a:xfrm>
            <a:off x="365760" y="1367048"/>
            <a:ext cx="4937760" cy="2935184"/>
          </a:xfrm>
          <a:prstGeom prst="rect">
            <a:avLst/>
          </a:prstGeom>
          <a:ln w="12700">
            <a:solidFill>
              <a:schemeClr val="accent4"/>
            </a:solidFill>
            <a:prstDash val="solid"/>
          </a:ln>
        </p:spPr>
      </p:sp>
      <p:sp>
        <p:nvSpPr>
          <p:cNvPr id="5" name="carte Adresse IP"/>
          <p:cNvSpPr/>
          <p:nvPr/>
        </p:nvSpPr>
        <p:spPr>
          <a:xfrm>
            <a:off x="5486400" y="960120"/>
            <a:ext cx="3291840" cy="850392"/>
          </a:xfrm>
          <a:prstGeom prst="roundRect">
            <a:avLst>
              <a:gd name="adj" fmla="val 8602"/>
            </a:avLst>
          </a:prstGeom>
          <a:solidFill>
            <a:schemeClr val="bg1"/>
          </a:solidFill>
          <a:ln w="19050">
            <a:solidFill>
              <a:schemeClr val="accent1"/>
            </a:solidFill>
            <a:prstDash val="solid"/>
          </a:ln>
        </p:spPr>
      </p:sp>
      <p:sp>
        <p:nvSpPr>
          <p:cNvPr id="6" name="repère Adresse IP"/>
          <p:cNvSpPr/>
          <p:nvPr/>
        </p:nvSpPr>
        <p:spPr>
          <a:xfrm>
            <a:off x="5596128" y="1097280"/>
            <a:ext cx="64008" cy="576072"/>
          </a:xfrm>
          <a:prstGeom prst="rect">
            <a:avLst/>
          </a:prstGeom>
          <a:solidFill>
            <a:schemeClr val="accent1"/>
          </a:solidFill>
          <a:ln w="12700">
            <a:solidFill>
              <a:schemeClr val="accent1"/>
            </a:solidFill>
            <a:prstDash val="solid"/>
          </a:ln>
        </p:spPr>
      </p:sp>
      <p:sp>
        <p:nvSpPr>
          <p:cNvPr id="7" name="texte Adresse IP"/>
          <p:cNvSpPr txBox="1"/>
          <p:nvPr/>
        </p:nvSpPr>
        <p:spPr>
          <a:xfrm>
            <a:off x="5760720" y="1005840"/>
            <a:ext cx="2926080" cy="758952"/>
          </a:xfrm>
          <a:prstGeom prst="rect">
            <a:avLst/>
          </a:prstGeom>
          <a:noFill/>
          <a:ln/>
        </p:spPr>
        <p:txBody>
          <a:bodyPr wrap="square" lIns="0" tIns="0" rIns="0" bIns="0" rtlCol="0" anchor="ctr"/>
          <a:lstStyle/>
          <a:p>
            <a:pPr indent="0" marL="0">
              <a:buNone/>
            </a:pPr>
            <a:r>
              <a:rPr lang="en-US" sz="1400" b="1" dirty="0">
                <a:solidFill>
                  <a:schemeClr val="tx1"/>
                </a:solidFill>
              </a:rPr>
              <a:t>Adresse IP</a:t>
            </a:r>
            <a:endParaRPr lang="en-US" sz="1400" dirty="0"/>
          </a:p>
          <a:p>
            <a:pPr indent="0" marL="0">
              <a:buNone/>
            </a:pPr>
            <a:r>
              <a:rPr lang="en-US" sz="1200" dirty="0">
                <a:solidFill>
                  <a:schemeClr val="tx2"/>
                </a:solidFill>
              </a:rPr>
              <a:t>10.0.2.15/24 (DHCP VirtualBox)</a:t>
            </a:r>
            <a:endParaRPr lang="en-US" sz="1400" dirty="0"/>
          </a:p>
        </p:txBody>
      </p:sp>
      <p:sp>
        <p:nvSpPr>
          <p:cNvPr id="8" name="carte Passerelle"/>
          <p:cNvSpPr/>
          <p:nvPr/>
        </p:nvSpPr>
        <p:spPr>
          <a:xfrm>
            <a:off x="5486400" y="1901952"/>
            <a:ext cx="3291840" cy="850392"/>
          </a:xfrm>
          <a:prstGeom prst="roundRect">
            <a:avLst>
              <a:gd name="adj" fmla="val 8602"/>
            </a:avLst>
          </a:prstGeom>
          <a:solidFill>
            <a:schemeClr val="bg1"/>
          </a:solidFill>
          <a:ln w="19050">
            <a:solidFill>
              <a:schemeClr val="accent3"/>
            </a:solidFill>
            <a:prstDash val="solid"/>
          </a:ln>
        </p:spPr>
      </p:sp>
      <p:sp>
        <p:nvSpPr>
          <p:cNvPr id="9" name="repère Passerelle"/>
          <p:cNvSpPr/>
          <p:nvPr/>
        </p:nvSpPr>
        <p:spPr>
          <a:xfrm>
            <a:off x="5596128" y="2039112"/>
            <a:ext cx="64008" cy="576072"/>
          </a:xfrm>
          <a:prstGeom prst="rect">
            <a:avLst/>
          </a:prstGeom>
          <a:solidFill>
            <a:schemeClr val="accent3"/>
          </a:solidFill>
          <a:ln w="12700">
            <a:solidFill>
              <a:schemeClr val="accent3"/>
            </a:solidFill>
            <a:prstDash val="solid"/>
          </a:ln>
        </p:spPr>
      </p:sp>
      <p:sp>
        <p:nvSpPr>
          <p:cNvPr id="10" name="texte Passerelle"/>
          <p:cNvSpPr txBox="1"/>
          <p:nvPr/>
        </p:nvSpPr>
        <p:spPr>
          <a:xfrm>
            <a:off x="5760720" y="1947672"/>
            <a:ext cx="2926080" cy="758952"/>
          </a:xfrm>
          <a:prstGeom prst="rect">
            <a:avLst/>
          </a:prstGeom>
          <a:noFill/>
          <a:ln/>
        </p:spPr>
        <p:txBody>
          <a:bodyPr wrap="square" lIns="0" tIns="0" rIns="0" bIns="0" rtlCol="0" anchor="ctr"/>
          <a:lstStyle/>
          <a:p>
            <a:pPr indent="0" marL="0">
              <a:buNone/>
            </a:pPr>
            <a:r>
              <a:rPr lang="en-US" sz="1400" b="1" dirty="0">
                <a:solidFill>
                  <a:schemeClr val="tx1"/>
                </a:solidFill>
              </a:rPr>
              <a:t>Passerelle</a:t>
            </a:r>
            <a:endParaRPr lang="en-US" sz="1400" dirty="0"/>
          </a:p>
          <a:p>
            <a:pPr indent="0" marL="0">
              <a:buNone/>
            </a:pPr>
            <a:r>
              <a:rPr lang="en-US" sz="1200" dirty="0">
                <a:solidFill>
                  <a:schemeClr val="tx2"/>
                </a:solidFill>
              </a:rPr>
              <a:t>10.0.2.2 : routeur NAT</a:t>
            </a:r>
            <a:endParaRPr lang="en-US" sz="1400" dirty="0"/>
          </a:p>
        </p:txBody>
      </p:sp>
      <p:sp>
        <p:nvSpPr>
          <p:cNvPr id="11" name="carte Serveur DNS"/>
          <p:cNvSpPr/>
          <p:nvPr/>
        </p:nvSpPr>
        <p:spPr>
          <a:xfrm>
            <a:off x="5486400" y="2843784"/>
            <a:ext cx="3291840" cy="850392"/>
          </a:xfrm>
          <a:prstGeom prst="roundRect">
            <a:avLst>
              <a:gd name="adj" fmla="val 8602"/>
            </a:avLst>
          </a:prstGeom>
          <a:solidFill>
            <a:schemeClr val="bg1"/>
          </a:solidFill>
          <a:ln w="19050">
            <a:solidFill>
              <a:schemeClr val="accent1"/>
            </a:solidFill>
            <a:prstDash val="solid"/>
          </a:ln>
        </p:spPr>
      </p:sp>
      <p:sp>
        <p:nvSpPr>
          <p:cNvPr id="12" name="repère Serveur DNS"/>
          <p:cNvSpPr/>
          <p:nvPr/>
        </p:nvSpPr>
        <p:spPr>
          <a:xfrm>
            <a:off x="5596128" y="2980944"/>
            <a:ext cx="64008" cy="576072"/>
          </a:xfrm>
          <a:prstGeom prst="rect">
            <a:avLst/>
          </a:prstGeom>
          <a:solidFill>
            <a:schemeClr val="accent1"/>
          </a:solidFill>
          <a:ln w="12700">
            <a:solidFill>
              <a:schemeClr val="accent1"/>
            </a:solidFill>
            <a:prstDash val="solid"/>
          </a:ln>
        </p:spPr>
      </p:sp>
      <p:sp>
        <p:nvSpPr>
          <p:cNvPr id="13" name="texte Serveur DNS"/>
          <p:cNvSpPr txBox="1"/>
          <p:nvPr/>
        </p:nvSpPr>
        <p:spPr>
          <a:xfrm>
            <a:off x="5760720" y="2889504"/>
            <a:ext cx="2926080" cy="758952"/>
          </a:xfrm>
          <a:prstGeom prst="rect">
            <a:avLst/>
          </a:prstGeom>
          <a:noFill/>
          <a:ln/>
        </p:spPr>
        <p:txBody>
          <a:bodyPr wrap="square" lIns="0" tIns="0" rIns="0" bIns="0" rtlCol="0" anchor="ctr"/>
          <a:lstStyle/>
          <a:p>
            <a:pPr indent="0" marL="0">
              <a:buNone/>
            </a:pPr>
            <a:r>
              <a:rPr lang="en-US" sz="1400" b="1" dirty="0">
                <a:solidFill>
                  <a:schemeClr val="tx1"/>
                </a:solidFill>
              </a:rPr>
              <a:t>Serveur DNS</a:t>
            </a:r>
            <a:endParaRPr lang="en-US" sz="1400" dirty="0"/>
          </a:p>
          <a:p>
            <a:pPr indent="0" marL="0">
              <a:buNone/>
            </a:pPr>
            <a:r>
              <a:rPr lang="en-US" sz="1200" dirty="0">
                <a:solidFill>
                  <a:schemeClr val="tx2"/>
                </a:solidFill>
              </a:rPr>
              <a:t>192.168.1.1</a:t>
            </a:r>
            <a:endParaRPr lang="en-US" sz="1400" dirty="0"/>
          </a:p>
        </p:txBody>
      </p:sp>
      <p:sp>
        <p:nvSpPr>
          <p:cNvPr id="14" name="carte Ping ubuntu.com"/>
          <p:cNvSpPr/>
          <p:nvPr/>
        </p:nvSpPr>
        <p:spPr>
          <a:xfrm>
            <a:off x="5486400" y="3785616"/>
            <a:ext cx="3291840" cy="850392"/>
          </a:xfrm>
          <a:prstGeom prst="roundRect">
            <a:avLst>
              <a:gd name="adj" fmla="val 8602"/>
            </a:avLst>
          </a:prstGeom>
          <a:solidFill>
            <a:schemeClr val="bg1"/>
          </a:solidFill>
          <a:ln w="19050">
            <a:solidFill>
              <a:schemeClr val="accent3"/>
            </a:solidFill>
            <a:prstDash val="solid"/>
          </a:ln>
        </p:spPr>
      </p:sp>
      <p:sp>
        <p:nvSpPr>
          <p:cNvPr id="15" name="repère Ping ubuntu.com"/>
          <p:cNvSpPr/>
          <p:nvPr/>
        </p:nvSpPr>
        <p:spPr>
          <a:xfrm>
            <a:off x="5596128" y="3922776"/>
            <a:ext cx="64008" cy="576072"/>
          </a:xfrm>
          <a:prstGeom prst="rect">
            <a:avLst/>
          </a:prstGeom>
          <a:solidFill>
            <a:schemeClr val="accent3"/>
          </a:solidFill>
          <a:ln w="12700">
            <a:solidFill>
              <a:schemeClr val="accent3"/>
            </a:solidFill>
            <a:prstDash val="solid"/>
          </a:ln>
        </p:spPr>
      </p:sp>
      <p:sp>
        <p:nvSpPr>
          <p:cNvPr id="16" name="texte Ping ubuntu.com"/>
          <p:cNvSpPr txBox="1"/>
          <p:nvPr/>
        </p:nvSpPr>
        <p:spPr>
          <a:xfrm>
            <a:off x="5760720" y="3831336"/>
            <a:ext cx="2926080" cy="758952"/>
          </a:xfrm>
          <a:prstGeom prst="rect">
            <a:avLst/>
          </a:prstGeom>
          <a:noFill/>
          <a:ln/>
        </p:spPr>
        <p:txBody>
          <a:bodyPr wrap="square" lIns="0" tIns="0" rIns="0" bIns="0" rtlCol="0" anchor="ctr"/>
          <a:lstStyle/>
          <a:p>
            <a:pPr indent="0" marL="0">
              <a:buNone/>
            </a:pPr>
            <a:r>
              <a:rPr lang="en-US" sz="1400" b="1" dirty="0">
                <a:solidFill>
                  <a:schemeClr val="tx1"/>
                </a:solidFill>
              </a:rPr>
              <a:t>Ping ubuntu.com</a:t>
            </a:r>
            <a:endParaRPr lang="en-US" sz="1400" dirty="0"/>
          </a:p>
          <a:p>
            <a:pPr indent="0" marL="0">
              <a:buNone/>
            </a:pPr>
            <a:r>
              <a:rPr lang="en-US" sz="1200" dirty="0">
                <a:solidFill>
                  <a:schemeClr val="tx2"/>
                </a:solidFill>
              </a:rPr>
              <a:t>3/3 reçus, 0 % de perte</a:t>
            </a:r>
            <a:endParaRPr lang="en-US" sz="14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Le serveur SSH est actif</a:t>
            </a:r>
            <a:endParaRPr lang="en-US" sz="3000" dirty="0"/>
          </a:p>
        </p:txBody>
      </p:sp>
      <p:pic>
        <p:nvPicPr>
          <p:cNvPr id="3" name="État du service SSH et port 22" descr="État du service SSH et port 22">    </p:cNvPr>
          <p:cNvPicPr>
            <a:picLocks noChangeAspect="1"/>
          </p:cNvPicPr>
          <p:nvPr/>
        </p:nvPicPr>
        <p:blipFill>
          <a:blip r:embed="rId1"/>
          <a:stretch>
            <a:fillRect/>
          </a:stretch>
        </p:blipFill>
        <p:spPr>
          <a:xfrm>
            <a:off x="365760" y="1273291"/>
            <a:ext cx="5394960" cy="3122699"/>
          </a:xfrm>
          <a:prstGeom prst="rect">
            <a:avLst/>
          </a:prstGeom>
        </p:spPr>
      </p:pic>
      <p:sp>
        <p:nvSpPr>
          <p:cNvPr id="4" name="cadre État du service SSH et port 22"/>
          <p:cNvSpPr/>
          <p:nvPr/>
        </p:nvSpPr>
        <p:spPr>
          <a:xfrm>
            <a:off x="365760" y="1273291"/>
            <a:ext cx="5394960" cy="3122699"/>
          </a:xfrm>
          <a:prstGeom prst="rect">
            <a:avLst/>
          </a:prstGeom>
          <a:ln w="12700">
            <a:solidFill>
              <a:schemeClr val="accent4"/>
            </a:solidFill>
            <a:prstDash val="solid"/>
          </a:ln>
        </p:spPr>
      </p:sp>
      <p:sp>
        <p:nvSpPr>
          <p:cNvPr id="5" name="carte ssh.service"/>
          <p:cNvSpPr/>
          <p:nvPr/>
        </p:nvSpPr>
        <p:spPr>
          <a:xfrm>
            <a:off x="5943600" y="1005840"/>
            <a:ext cx="2834640" cy="1188720"/>
          </a:xfrm>
          <a:prstGeom prst="roundRect">
            <a:avLst>
              <a:gd name="adj" fmla="val 6154"/>
            </a:avLst>
          </a:prstGeom>
          <a:solidFill>
            <a:schemeClr val="bg1"/>
          </a:solidFill>
          <a:ln w="19050">
            <a:solidFill>
              <a:schemeClr val="accent5"/>
            </a:solidFill>
            <a:prstDash val="solid"/>
          </a:ln>
        </p:spPr>
      </p:sp>
      <p:sp>
        <p:nvSpPr>
          <p:cNvPr id="6" name="repère ssh.service"/>
          <p:cNvSpPr/>
          <p:nvPr/>
        </p:nvSpPr>
        <p:spPr>
          <a:xfrm>
            <a:off x="6053328" y="1143000"/>
            <a:ext cx="64008" cy="914400"/>
          </a:xfrm>
          <a:prstGeom prst="rect">
            <a:avLst/>
          </a:prstGeom>
          <a:solidFill>
            <a:schemeClr val="accent5"/>
          </a:solidFill>
          <a:ln w="12700">
            <a:solidFill>
              <a:schemeClr val="accent5"/>
            </a:solidFill>
            <a:prstDash val="solid"/>
          </a:ln>
        </p:spPr>
      </p:sp>
      <p:sp>
        <p:nvSpPr>
          <p:cNvPr id="7" name="texte ssh.service"/>
          <p:cNvSpPr txBox="1"/>
          <p:nvPr/>
        </p:nvSpPr>
        <p:spPr>
          <a:xfrm>
            <a:off x="6217920" y="1051560"/>
            <a:ext cx="2468880" cy="1097280"/>
          </a:xfrm>
          <a:prstGeom prst="rect">
            <a:avLst/>
          </a:prstGeom>
          <a:noFill/>
          <a:ln/>
        </p:spPr>
        <p:txBody>
          <a:bodyPr wrap="square" lIns="0" tIns="0" rIns="0" bIns="0" rtlCol="0" anchor="ctr"/>
          <a:lstStyle/>
          <a:p>
            <a:pPr indent="0" marL="0">
              <a:buNone/>
            </a:pPr>
            <a:r>
              <a:rPr lang="en-US" sz="1500" b="1" dirty="0">
                <a:solidFill>
                  <a:schemeClr val="tx1"/>
                </a:solidFill>
              </a:rPr>
              <a:t>ssh.service</a:t>
            </a:r>
            <a:endParaRPr lang="en-US" sz="1500" dirty="0"/>
          </a:p>
          <a:p>
            <a:pPr indent="0" marL="0">
              <a:buNone/>
            </a:pPr>
            <a:r>
              <a:rPr lang="en-US" sz="1300" dirty="0">
                <a:solidFill>
                  <a:schemeClr val="tx2"/>
                </a:solidFill>
              </a:rPr>
              <a:t>active (running)</a:t>
            </a:r>
            <a:endParaRPr lang="en-US" sz="1500" dirty="0"/>
          </a:p>
        </p:txBody>
      </p:sp>
      <p:sp>
        <p:nvSpPr>
          <p:cNvPr id="8" name="carte sshd écoute"/>
          <p:cNvSpPr/>
          <p:nvPr/>
        </p:nvSpPr>
        <p:spPr>
          <a:xfrm>
            <a:off x="5943600" y="2377440"/>
            <a:ext cx="2834640" cy="1188720"/>
          </a:xfrm>
          <a:prstGeom prst="roundRect">
            <a:avLst>
              <a:gd name="adj" fmla="val 6154"/>
            </a:avLst>
          </a:prstGeom>
          <a:solidFill>
            <a:schemeClr val="bg1"/>
          </a:solidFill>
          <a:ln w="19050">
            <a:solidFill>
              <a:schemeClr val="accent1"/>
            </a:solidFill>
            <a:prstDash val="solid"/>
          </a:ln>
        </p:spPr>
      </p:sp>
      <p:sp>
        <p:nvSpPr>
          <p:cNvPr id="9" name="repère sshd écoute"/>
          <p:cNvSpPr/>
          <p:nvPr/>
        </p:nvSpPr>
        <p:spPr>
          <a:xfrm>
            <a:off x="6053328" y="2514600"/>
            <a:ext cx="64008" cy="914400"/>
          </a:xfrm>
          <a:prstGeom prst="rect">
            <a:avLst/>
          </a:prstGeom>
          <a:solidFill>
            <a:schemeClr val="accent1"/>
          </a:solidFill>
          <a:ln w="12700">
            <a:solidFill>
              <a:schemeClr val="accent1"/>
            </a:solidFill>
            <a:prstDash val="solid"/>
          </a:ln>
        </p:spPr>
      </p:sp>
      <p:sp>
        <p:nvSpPr>
          <p:cNvPr id="10" name="texte sshd écoute"/>
          <p:cNvSpPr txBox="1"/>
          <p:nvPr/>
        </p:nvSpPr>
        <p:spPr>
          <a:xfrm>
            <a:off x="6217920" y="2423160"/>
            <a:ext cx="2468880" cy="1097280"/>
          </a:xfrm>
          <a:prstGeom prst="rect">
            <a:avLst/>
          </a:prstGeom>
          <a:noFill/>
          <a:ln/>
        </p:spPr>
        <p:txBody>
          <a:bodyPr wrap="square" lIns="0" tIns="0" rIns="0" bIns="0" rtlCol="0" anchor="ctr"/>
          <a:lstStyle/>
          <a:p>
            <a:pPr indent="0" marL="0">
              <a:buNone/>
            </a:pPr>
            <a:r>
              <a:rPr lang="en-US" sz="1500" b="1" dirty="0">
                <a:solidFill>
                  <a:schemeClr val="tx1"/>
                </a:solidFill>
              </a:rPr>
              <a:t>sshd écoute</a:t>
            </a:r>
            <a:endParaRPr lang="en-US" sz="1500" dirty="0"/>
          </a:p>
          <a:p>
            <a:pPr indent="0" marL="0">
              <a:buNone/>
            </a:pPr>
            <a:r>
              <a:rPr lang="en-US" sz="1300" dirty="0">
                <a:solidFill>
                  <a:schemeClr val="tx2"/>
                </a:solidFill>
              </a:rPr>
              <a:t>0.0.0.0:22 et [::]:22</a:t>
            </a:r>
            <a:endParaRPr lang="en-US" sz="1500" dirty="0"/>
          </a:p>
        </p:txBody>
      </p:sp>
      <p:sp>
        <p:nvSpPr>
          <p:cNvPr id="11" name="carte Port 22 ouvert"/>
          <p:cNvSpPr/>
          <p:nvPr/>
        </p:nvSpPr>
        <p:spPr>
          <a:xfrm>
            <a:off x="5943600" y="3749040"/>
            <a:ext cx="2834640" cy="868680"/>
          </a:xfrm>
          <a:prstGeom prst="roundRect">
            <a:avLst>
              <a:gd name="adj" fmla="val 8421"/>
            </a:avLst>
          </a:prstGeom>
          <a:solidFill>
            <a:schemeClr val="bg1"/>
          </a:solidFill>
          <a:ln w="19050">
            <a:solidFill>
              <a:schemeClr val="accent3"/>
            </a:solidFill>
            <a:prstDash val="solid"/>
          </a:ln>
        </p:spPr>
      </p:sp>
      <p:sp>
        <p:nvSpPr>
          <p:cNvPr id="12" name="repère Port 22 ouvert"/>
          <p:cNvSpPr/>
          <p:nvPr/>
        </p:nvSpPr>
        <p:spPr>
          <a:xfrm>
            <a:off x="6053328" y="3886200"/>
            <a:ext cx="64008" cy="594360"/>
          </a:xfrm>
          <a:prstGeom prst="rect">
            <a:avLst/>
          </a:prstGeom>
          <a:solidFill>
            <a:schemeClr val="accent3"/>
          </a:solidFill>
          <a:ln w="12700">
            <a:solidFill>
              <a:schemeClr val="accent3"/>
            </a:solidFill>
            <a:prstDash val="solid"/>
          </a:ln>
        </p:spPr>
      </p:sp>
      <p:sp>
        <p:nvSpPr>
          <p:cNvPr id="13" name="texte Port 22 ouvert"/>
          <p:cNvSpPr txBox="1"/>
          <p:nvPr/>
        </p:nvSpPr>
        <p:spPr>
          <a:xfrm>
            <a:off x="6217920" y="3794760"/>
            <a:ext cx="2468880" cy="777240"/>
          </a:xfrm>
          <a:prstGeom prst="rect">
            <a:avLst/>
          </a:prstGeom>
          <a:noFill/>
          <a:ln/>
        </p:spPr>
        <p:txBody>
          <a:bodyPr wrap="square" lIns="0" tIns="0" rIns="0" bIns="0" rtlCol="0" anchor="ctr"/>
          <a:lstStyle/>
          <a:p>
            <a:pPr indent="0" marL="0">
              <a:buNone/>
            </a:pPr>
            <a:r>
              <a:rPr lang="en-US" sz="1500" b="1" dirty="0">
                <a:solidFill>
                  <a:schemeClr val="tx1"/>
                </a:solidFill>
              </a:rPr>
              <a:t>Port 22 ouvert</a:t>
            </a:r>
            <a:endParaRPr lang="en-US" sz="1500" dirty="0"/>
          </a:p>
          <a:p>
            <a:pPr indent="0" marL="0">
              <a:buNone/>
            </a:pPr>
            <a:r>
              <a:rPr lang="en-US" sz="1300" dirty="0">
                <a:solidFill>
                  <a:schemeClr val="tx2"/>
                </a:solidFill>
              </a:rPr>
              <a:t>prêt pour la connexion</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Connexion, copie et clé SSH</a:t>
            </a:r>
            <a:endParaRPr lang="en-US" sz="3000" dirty="0"/>
          </a:p>
        </p:txBody>
      </p:sp>
      <p:pic>
        <p:nvPicPr>
          <p:cNvPr id="3" name="Connexion SSH par clé" descr="Connexion SSH par clé">    </p:cNvPr>
          <p:cNvPicPr>
            <a:picLocks noChangeAspect="1"/>
          </p:cNvPicPr>
          <p:nvPr/>
        </p:nvPicPr>
        <p:blipFill>
          <a:blip r:embed="rId1"/>
          <a:stretch>
            <a:fillRect/>
          </a:stretch>
        </p:blipFill>
        <p:spPr>
          <a:xfrm>
            <a:off x="1748534" y="868680"/>
            <a:ext cx="5646931" cy="2743200"/>
          </a:xfrm>
          <a:prstGeom prst="rect">
            <a:avLst/>
          </a:prstGeom>
        </p:spPr>
      </p:pic>
      <p:sp>
        <p:nvSpPr>
          <p:cNvPr id="4" name="cadre Connexion SSH par clé"/>
          <p:cNvSpPr/>
          <p:nvPr/>
        </p:nvSpPr>
        <p:spPr>
          <a:xfrm>
            <a:off x="1748534" y="868680"/>
            <a:ext cx="5646931" cy="2743200"/>
          </a:xfrm>
          <a:prstGeom prst="rect">
            <a:avLst/>
          </a:prstGeom>
          <a:ln w="12700">
            <a:solidFill>
              <a:schemeClr val="accent4"/>
            </a:solidFill>
            <a:prstDash val="solid"/>
          </a:ln>
        </p:spPr>
      </p:sp>
      <p:sp>
        <p:nvSpPr>
          <p:cNvPr id="5" name="carte Mot de passe"/>
          <p:cNvSpPr/>
          <p:nvPr/>
        </p:nvSpPr>
        <p:spPr>
          <a:xfrm>
            <a:off x="365760" y="3703320"/>
            <a:ext cx="2697480" cy="960120"/>
          </a:xfrm>
          <a:prstGeom prst="roundRect">
            <a:avLst>
              <a:gd name="adj" fmla="val 7619"/>
            </a:avLst>
          </a:prstGeom>
          <a:solidFill>
            <a:schemeClr val="bg1"/>
          </a:solidFill>
          <a:ln w="19050">
            <a:solidFill>
              <a:schemeClr val="accent3"/>
            </a:solidFill>
            <a:prstDash val="solid"/>
          </a:ln>
        </p:spPr>
      </p:sp>
      <p:sp>
        <p:nvSpPr>
          <p:cNvPr id="6" name="repère Mot de passe"/>
          <p:cNvSpPr/>
          <p:nvPr/>
        </p:nvSpPr>
        <p:spPr>
          <a:xfrm>
            <a:off x="475488" y="3840480"/>
            <a:ext cx="64008" cy="685800"/>
          </a:xfrm>
          <a:prstGeom prst="rect">
            <a:avLst/>
          </a:prstGeom>
          <a:solidFill>
            <a:schemeClr val="accent3"/>
          </a:solidFill>
          <a:ln w="12700">
            <a:solidFill>
              <a:schemeClr val="accent3"/>
            </a:solidFill>
            <a:prstDash val="solid"/>
          </a:ln>
        </p:spPr>
      </p:sp>
      <p:sp>
        <p:nvSpPr>
          <p:cNvPr id="7" name="texte Mot de passe"/>
          <p:cNvSpPr txBox="1"/>
          <p:nvPr/>
        </p:nvSpPr>
        <p:spPr>
          <a:xfrm>
            <a:off x="640080" y="3749040"/>
            <a:ext cx="2331720" cy="868680"/>
          </a:xfrm>
          <a:prstGeom prst="rect">
            <a:avLst/>
          </a:prstGeom>
          <a:noFill/>
          <a:ln/>
        </p:spPr>
        <p:txBody>
          <a:bodyPr wrap="square" lIns="0" tIns="0" rIns="0" bIns="0" rtlCol="0" anchor="ctr"/>
          <a:lstStyle/>
          <a:p>
            <a:pPr indent="0" marL="0">
              <a:buNone/>
            </a:pPr>
            <a:r>
              <a:rPr lang="en-US" sz="1500" b="1" dirty="0">
                <a:solidFill>
                  <a:schemeClr val="tx1"/>
                </a:solidFill>
              </a:rPr>
              <a:t>Mot de passe</a:t>
            </a:r>
            <a:endParaRPr lang="en-US" sz="1500" dirty="0"/>
          </a:p>
          <a:p>
            <a:pPr indent="0" marL="0">
              <a:buNone/>
            </a:pPr>
            <a:r>
              <a:rPr lang="en-US" sz="1300" dirty="0">
                <a:solidFill>
                  <a:schemeClr val="tx2"/>
                </a:solidFill>
              </a:rPr>
              <a:t>connexion depuis l’hôte</a:t>
            </a:r>
            <a:endParaRPr lang="en-US" sz="1500" dirty="0"/>
          </a:p>
        </p:txBody>
      </p:sp>
      <p:sp>
        <p:nvSpPr>
          <p:cNvPr id="8" name="carte scp"/>
          <p:cNvSpPr/>
          <p:nvPr/>
        </p:nvSpPr>
        <p:spPr>
          <a:xfrm>
            <a:off x="3223260" y="3703320"/>
            <a:ext cx="2697480" cy="960120"/>
          </a:xfrm>
          <a:prstGeom prst="roundRect">
            <a:avLst>
              <a:gd name="adj" fmla="val 7619"/>
            </a:avLst>
          </a:prstGeom>
          <a:solidFill>
            <a:schemeClr val="bg1"/>
          </a:solidFill>
          <a:ln w="19050">
            <a:solidFill>
              <a:schemeClr val="accent1"/>
            </a:solidFill>
            <a:prstDash val="solid"/>
          </a:ln>
        </p:spPr>
      </p:sp>
      <p:sp>
        <p:nvSpPr>
          <p:cNvPr id="9" name="repère scp"/>
          <p:cNvSpPr/>
          <p:nvPr/>
        </p:nvSpPr>
        <p:spPr>
          <a:xfrm>
            <a:off x="3332988" y="3840480"/>
            <a:ext cx="64008" cy="685800"/>
          </a:xfrm>
          <a:prstGeom prst="rect">
            <a:avLst/>
          </a:prstGeom>
          <a:solidFill>
            <a:schemeClr val="accent1"/>
          </a:solidFill>
          <a:ln w="12700">
            <a:solidFill>
              <a:schemeClr val="accent1"/>
            </a:solidFill>
            <a:prstDash val="solid"/>
          </a:ln>
        </p:spPr>
      </p:sp>
      <p:sp>
        <p:nvSpPr>
          <p:cNvPr id="10" name="texte scp"/>
          <p:cNvSpPr txBox="1"/>
          <p:nvPr/>
        </p:nvSpPr>
        <p:spPr>
          <a:xfrm>
            <a:off x="3497580" y="3749040"/>
            <a:ext cx="2331720" cy="868680"/>
          </a:xfrm>
          <a:prstGeom prst="rect">
            <a:avLst/>
          </a:prstGeom>
          <a:noFill/>
          <a:ln/>
        </p:spPr>
        <p:txBody>
          <a:bodyPr wrap="square" lIns="0" tIns="0" rIns="0" bIns="0" rtlCol="0" anchor="ctr"/>
          <a:lstStyle/>
          <a:p>
            <a:pPr indent="0" marL="0">
              <a:buNone/>
            </a:pPr>
            <a:r>
              <a:rPr lang="en-US" sz="1500" b="1" dirty="0">
                <a:solidFill>
                  <a:schemeClr val="tx1"/>
                </a:solidFill>
              </a:rPr>
              <a:t>scp</a:t>
            </a:r>
            <a:endParaRPr lang="en-US" sz="1500" dirty="0"/>
          </a:p>
          <a:p>
            <a:pPr indent="0" marL="0">
              <a:buNone/>
            </a:pPr>
            <a:r>
              <a:rPr lang="en-US" sz="1300" dirty="0">
                <a:solidFill>
                  <a:schemeClr val="tx2"/>
                </a:solidFill>
              </a:rPr>
              <a:t>bonjour.txt copié : 100 %</a:t>
            </a:r>
            <a:endParaRPr lang="en-US" sz="1500" dirty="0"/>
          </a:p>
        </p:txBody>
      </p:sp>
      <p:sp>
        <p:nvSpPr>
          <p:cNvPr id="11" name="carte Clé ed25519"/>
          <p:cNvSpPr/>
          <p:nvPr/>
        </p:nvSpPr>
        <p:spPr>
          <a:xfrm>
            <a:off x="6080760" y="3703320"/>
            <a:ext cx="2697480" cy="960120"/>
          </a:xfrm>
          <a:prstGeom prst="roundRect">
            <a:avLst>
              <a:gd name="adj" fmla="val 7619"/>
            </a:avLst>
          </a:prstGeom>
          <a:solidFill>
            <a:schemeClr val="bg1"/>
          </a:solidFill>
          <a:ln w="19050">
            <a:solidFill>
              <a:schemeClr val="accent5"/>
            </a:solidFill>
            <a:prstDash val="solid"/>
          </a:ln>
        </p:spPr>
      </p:sp>
      <p:sp>
        <p:nvSpPr>
          <p:cNvPr id="12" name="repère Clé ed25519"/>
          <p:cNvSpPr/>
          <p:nvPr/>
        </p:nvSpPr>
        <p:spPr>
          <a:xfrm>
            <a:off x="6190488" y="3840480"/>
            <a:ext cx="64008" cy="685800"/>
          </a:xfrm>
          <a:prstGeom prst="rect">
            <a:avLst/>
          </a:prstGeom>
          <a:solidFill>
            <a:schemeClr val="accent5"/>
          </a:solidFill>
          <a:ln w="12700">
            <a:solidFill>
              <a:schemeClr val="accent5"/>
            </a:solidFill>
            <a:prstDash val="solid"/>
          </a:ln>
        </p:spPr>
      </p:sp>
      <p:sp>
        <p:nvSpPr>
          <p:cNvPr id="13" name="texte Clé ed25519"/>
          <p:cNvSpPr txBox="1"/>
          <p:nvPr/>
        </p:nvSpPr>
        <p:spPr>
          <a:xfrm>
            <a:off x="6355080" y="3749040"/>
            <a:ext cx="2331720" cy="868680"/>
          </a:xfrm>
          <a:prstGeom prst="rect">
            <a:avLst/>
          </a:prstGeom>
          <a:noFill/>
          <a:ln/>
        </p:spPr>
        <p:txBody>
          <a:bodyPr wrap="square" lIns="0" tIns="0" rIns="0" bIns="0" rtlCol="0" anchor="ctr"/>
          <a:lstStyle/>
          <a:p>
            <a:pPr indent="0" marL="0">
              <a:buNone/>
            </a:pPr>
            <a:r>
              <a:rPr lang="en-US" sz="1500" b="1" dirty="0">
                <a:solidFill>
                  <a:schemeClr val="tx1"/>
                </a:solidFill>
              </a:rPr>
              <a:t>Clé ed25519</a:t>
            </a:r>
            <a:endParaRPr lang="en-US" sz="1500" dirty="0"/>
          </a:p>
          <a:p>
            <a:pPr indent="0" marL="0">
              <a:buNone/>
            </a:pPr>
            <a:r>
              <a:rPr lang="en-US" sz="1300" dirty="0">
                <a:solidFill>
                  <a:schemeClr val="tx2"/>
                </a:solidFill>
              </a:rPr>
              <a:t>connexion sans mot de passe</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Partie 6 : instantané et restauration</a:t>
            </a:r>
            <a:endParaRPr lang="en-US" sz="3000" dirty="0"/>
          </a:p>
        </p:txBody>
      </p:sp>
      <p:pic>
        <p:nvPicPr>
          <p:cNvPr id="3" name="Restauration de l’instantané" descr="Restauration de l’instantané">    </p:cNvPr>
          <p:cNvPicPr>
            <a:picLocks noChangeAspect="1"/>
          </p:cNvPicPr>
          <p:nvPr/>
        </p:nvPicPr>
        <p:blipFill>
          <a:blip r:embed="rId1"/>
          <a:stretch>
            <a:fillRect/>
          </a:stretch>
        </p:blipFill>
        <p:spPr>
          <a:xfrm>
            <a:off x="365760" y="1539012"/>
            <a:ext cx="5120640" cy="2636976"/>
          </a:xfrm>
          <a:prstGeom prst="rect">
            <a:avLst/>
          </a:prstGeom>
        </p:spPr>
      </p:pic>
      <p:sp>
        <p:nvSpPr>
          <p:cNvPr id="4" name="cadre Restauration de l’instantané"/>
          <p:cNvSpPr/>
          <p:nvPr/>
        </p:nvSpPr>
        <p:spPr>
          <a:xfrm>
            <a:off x="365760" y="1539012"/>
            <a:ext cx="5120640" cy="2636976"/>
          </a:xfrm>
          <a:prstGeom prst="rect">
            <a:avLst/>
          </a:prstGeom>
          <a:ln w="12700">
            <a:solidFill>
              <a:schemeClr val="accent4"/>
            </a:solidFill>
            <a:prstDash val="solid"/>
          </a:ln>
        </p:spPr>
      </p:sp>
      <p:sp>
        <p:nvSpPr>
          <p:cNvPr id="5" name="carte Instantané"/>
          <p:cNvSpPr/>
          <p:nvPr/>
        </p:nvSpPr>
        <p:spPr>
          <a:xfrm>
            <a:off x="5669280" y="960120"/>
            <a:ext cx="3108960" cy="850392"/>
          </a:xfrm>
          <a:prstGeom prst="roundRect">
            <a:avLst>
              <a:gd name="adj" fmla="val 8602"/>
            </a:avLst>
          </a:prstGeom>
          <a:solidFill>
            <a:schemeClr val="bg1"/>
          </a:solidFill>
          <a:ln w="19050">
            <a:solidFill>
              <a:schemeClr val="accent1"/>
            </a:solidFill>
            <a:prstDash val="solid"/>
          </a:ln>
        </p:spPr>
      </p:sp>
      <p:sp>
        <p:nvSpPr>
          <p:cNvPr id="6" name="repère Instantané"/>
          <p:cNvSpPr/>
          <p:nvPr/>
        </p:nvSpPr>
        <p:spPr>
          <a:xfrm>
            <a:off x="5779008" y="1097280"/>
            <a:ext cx="64008" cy="576072"/>
          </a:xfrm>
          <a:prstGeom prst="rect">
            <a:avLst/>
          </a:prstGeom>
          <a:solidFill>
            <a:schemeClr val="accent1"/>
          </a:solidFill>
          <a:ln w="12700">
            <a:solidFill>
              <a:schemeClr val="accent1"/>
            </a:solidFill>
            <a:prstDash val="solid"/>
          </a:ln>
        </p:spPr>
      </p:sp>
      <p:sp>
        <p:nvSpPr>
          <p:cNvPr id="7" name="texte Instantané"/>
          <p:cNvSpPr txBox="1"/>
          <p:nvPr/>
        </p:nvSpPr>
        <p:spPr>
          <a:xfrm>
            <a:off x="5943600" y="1005840"/>
            <a:ext cx="2743200" cy="758952"/>
          </a:xfrm>
          <a:prstGeom prst="rect">
            <a:avLst/>
          </a:prstGeom>
          <a:noFill/>
          <a:ln/>
        </p:spPr>
        <p:txBody>
          <a:bodyPr wrap="square" lIns="0" tIns="0" rIns="0" bIns="0" rtlCol="0" anchor="ctr"/>
          <a:lstStyle/>
          <a:p>
            <a:pPr indent="0" marL="0">
              <a:buNone/>
            </a:pPr>
            <a:r>
              <a:rPr lang="en-US" sz="1400" b="1" dirty="0">
                <a:solidFill>
                  <a:schemeClr val="tx1"/>
                </a:solidFill>
              </a:rPr>
              <a:t>Instantané</a:t>
            </a:r>
            <a:endParaRPr lang="en-US" sz="1400" dirty="0"/>
          </a:p>
          <a:p>
            <a:pPr indent="0" marL="0">
              <a:buNone/>
            </a:pPr>
            <a:r>
              <a:rPr lang="en-US" sz="1200" dirty="0">
                <a:solidFill>
                  <a:schemeClr val="tx2"/>
                </a:solidFill>
              </a:rPr>
              <a:t>« apres-installation » créé</a:t>
            </a:r>
            <a:endParaRPr lang="en-US" sz="1400" dirty="0"/>
          </a:p>
        </p:txBody>
      </p:sp>
      <p:sp>
        <p:nvSpPr>
          <p:cNvPr id="8" name="carte Test"/>
          <p:cNvSpPr/>
          <p:nvPr/>
        </p:nvSpPr>
        <p:spPr>
          <a:xfrm>
            <a:off x="5669280" y="1901952"/>
            <a:ext cx="3108960" cy="850392"/>
          </a:xfrm>
          <a:prstGeom prst="roundRect">
            <a:avLst>
              <a:gd name="adj" fmla="val 8602"/>
            </a:avLst>
          </a:prstGeom>
          <a:solidFill>
            <a:schemeClr val="bg1"/>
          </a:solidFill>
          <a:ln w="19050">
            <a:solidFill>
              <a:schemeClr val="accent3"/>
            </a:solidFill>
            <a:prstDash val="solid"/>
          </a:ln>
        </p:spPr>
      </p:sp>
      <p:sp>
        <p:nvSpPr>
          <p:cNvPr id="9" name="repère Test"/>
          <p:cNvSpPr/>
          <p:nvPr/>
        </p:nvSpPr>
        <p:spPr>
          <a:xfrm>
            <a:off x="5779008" y="2039112"/>
            <a:ext cx="64008" cy="576072"/>
          </a:xfrm>
          <a:prstGeom prst="rect">
            <a:avLst/>
          </a:prstGeom>
          <a:solidFill>
            <a:schemeClr val="accent3"/>
          </a:solidFill>
          <a:ln w="12700">
            <a:solidFill>
              <a:schemeClr val="accent3"/>
            </a:solidFill>
            <a:prstDash val="solid"/>
          </a:ln>
        </p:spPr>
      </p:sp>
      <p:sp>
        <p:nvSpPr>
          <p:cNvPr id="10" name="texte Test"/>
          <p:cNvSpPr txBox="1"/>
          <p:nvPr/>
        </p:nvSpPr>
        <p:spPr>
          <a:xfrm>
            <a:off x="5943600" y="1947672"/>
            <a:ext cx="2743200" cy="758952"/>
          </a:xfrm>
          <a:prstGeom prst="rect">
            <a:avLst/>
          </a:prstGeom>
          <a:noFill/>
          <a:ln/>
        </p:spPr>
        <p:txBody>
          <a:bodyPr wrap="square" lIns="0" tIns="0" rIns="0" bIns="0" rtlCol="0" anchor="ctr"/>
          <a:lstStyle/>
          <a:p>
            <a:pPr indent="0" marL="0">
              <a:buNone/>
            </a:pPr>
            <a:r>
              <a:rPr lang="en-US" sz="1400" b="1" dirty="0">
                <a:solidFill>
                  <a:schemeClr val="tx1"/>
                </a:solidFill>
              </a:rPr>
              <a:t>Test</a:t>
            </a:r>
            <a:endParaRPr lang="en-US" sz="1400" dirty="0"/>
          </a:p>
          <a:p>
            <a:pPr indent="0" marL="0">
              <a:buNone/>
            </a:pPr>
            <a:r>
              <a:rPr lang="en-US" sz="1200" dirty="0">
                <a:solidFill>
                  <a:schemeClr val="tx2"/>
                </a:solidFill>
              </a:rPr>
              <a:t>paquet tree et fichier ajoutés</a:t>
            </a:r>
            <a:endParaRPr lang="en-US" sz="1400" dirty="0"/>
          </a:p>
        </p:txBody>
      </p:sp>
      <p:sp>
        <p:nvSpPr>
          <p:cNvPr id="11" name="carte Restauration"/>
          <p:cNvSpPr/>
          <p:nvPr/>
        </p:nvSpPr>
        <p:spPr>
          <a:xfrm>
            <a:off x="5669280" y="2843784"/>
            <a:ext cx="3108960" cy="850392"/>
          </a:xfrm>
          <a:prstGeom prst="roundRect">
            <a:avLst>
              <a:gd name="adj" fmla="val 8602"/>
            </a:avLst>
          </a:prstGeom>
          <a:solidFill>
            <a:schemeClr val="bg1"/>
          </a:solidFill>
          <a:ln w="19050">
            <a:solidFill>
              <a:schemeClr val="accent1"/>
            </a:solidFill>
            <a:prstDash val="solid"/>
          </a:ln>
        </p:spPr>
      </p:sp>
      <p:sp>
        <p:nvSpPr>
          <p:cNvPr id="12" name="repère Restauration"/>
          <p:cNvSpPr/>
          <p:nvPr/>
        </p:nvSpPr>
        <p:spPr>
          <a:xfrm>
            <a:off x="5779008" y="2980944"/>
            <a:ext cx="64008" cy="576072"/>
          </a:xfrm>
          <a:prstGeom prst="rect">
            <a:avLst/>
          </a:prstGeom>
          <a:solidFill>
            <a:schemeClr val="accent1"/>
          </a:solidFill>
          <a:ln w="12700">
            <a:solidFill>
              <a:schemeClr val="accent1"/>
            </a:solidFill>
            <a:prstDash val="solid"/>
          </a:ln>
        </p:spPr>
      </p:sp>
      <p:sp>
        <p:nvSpPr>
          <p:cNvPr id="13" name="texte Restauration"/>
          <p:cNvSpPr txBox="1"/>
          <p:nvPr/>
        </p:nvSpPr>
        <p:spPr>
          <a:xfrm>
            <a:off x="5943600" y="2889504"/>
            <a:ext cx="2743200" cy="758952"/>
          </a:xfrm>
          <a:prstGeom prst="rect">
            <a:avLst/>
          </a:prstGeom>
          <a:noFill/>
          <a:ln/>
        </p:spPr>
        <p:txBody>
          <a:bodyPr wrap="square" lIns="0" tIns="0" rIns="0" bIns="0" rtlCol="0" anchor="ctr"/>
          <a:lstStyle/>
          <a:p>
            <a:pPr indent="0" marL="0">
              <a:buNone/>
            </a:pPr>
            <a:r>
              <a:rPr lang="en-US" sz="1400" b="1" dirty="0">
                <a:solidFill>
                  <a:schemeClr val="tx1"/>
                </a:solidFill>
              </a:rPr>
              <a:t>Restauration</a:t>
            </a:r>
            <a:endParaRPr lang="en-US" sz="1400" dirty="0"/>
          </a:p>
          <a:p>
            <a:pPr indent="0" marL="0">
              <a:buNone/>
            </a:pPr>
            <a:r>
              <a:rPr lang="en-US" sz="1200" dirty="0">
                <a:solidFill>
                  <a:schemeClr val="tx2"/>
                </a:solidFill>
              </a:rPr>
              <a:t>tree et fichier ont disparu</a:t>
            </a:r>
            <a:endParaRPr lang="en-US" sz="1400" dirty="0"/>
          </a:p>
        </p:txBody>
      </p:sp>
      <p:sp>
        <p:nvSpPr>
          <p:cNvPr id="14" name="carte À retenir"/>
          <p:cNvSpPr/>
          <p:nvPr/>
        </p:nvSpPr>
        <p:spPr>
          <a:xfrm>
            <a:off x="5669280" y="3785616"/>
            <a:ext cx="3108960" cy="850392"/>
          </a:xfrm>
          <a:prstGeom prst="roundRect">
            <a:avLst>
              <a:gd name="adj" fmla="val 8602"/>
            </a:avLst>
          </a:prstGeom>
          <a:solidFill>
            <a:schemeClr val="bg1"/>
          </a:solidFill>
          <a:ln w="19050">
            <a:solidFill>
              <a:schemeClr val="accent2"/>
            </a:solidFill>
            <a:prstDash val="solid"/>
          </a:ln>
        </p:spPr>
      </p:sp>
      <p:sp>
        <p:nvSpPr>
          <p:cNvPr id="15" name="repère À retenir"/>
          <p:cNvSpPr/>
          <p:nvPr/>
        </p:nvSpPr>
        <p:spPr>
          <a:xfrm>
            <a:off x="5779008" y="3922776"/>
            <a:ext cx="64008" cy="576072"/>
          </a:xfrm>
          <a:prstGeom prst="rect">
            <a:avLst/>
          </a:prstGeom>
          <a:solidFill>
            <a:schemeClr val="accent2"/>
          </a:solidFill>
          <a:ln w="12700">
            <a:solidFill>
              <a:schemeClr val="accent2"/>
            </a:solidFill>
            <a:prstDash val="solid"/>
          </a:ln>
        </p:spPr>
      </p:sp>
      <p:sp>
        <p:nvSpPr>
          <p:cNvPr id="16" name="texte À retenir"/>
          <p:cNvSpPr txBox="1"/>
          <p:nvPr/>
        </p:nvSpPr>
        <p:spPr>
          <a:xfrm>
            <a:off x="5943600" y="3831336"/>
            <a:ext cx="2743200" cy="758952"/>
          </a:xfrm>
          <a:prstGeom prst="rect">
            <a:avLst/>
          </a:prstGeom>
          <a:noFill/>
          <a:ln/>
        </p:spPr>
        <p:txBody>
          <a:bodyPr wrap="square" lIns="0" tIns="0" rIns="0" bIns="0" rtlCol="0" anchor="ctr"/>
          <a:lstStyle/>
          <a:p>
            <a:pPr indent="0" marL="0">
              <a:buNone/>
            </a:pPr>
            <a:r>
              <a:rPr lang="en-US" sz="1400" b="1" dirty="0">
                <a:solidFill>
                  <a:schemeClr val="tx1"/>
                </a:solidFill>
              </a:rPr>
              <a:t>À retenir</a:t>
            </a:r>
            <a:endParaRPr lang="en-US" sz="1400" dirty="0"/>
          </a:p>
          <a:p>
            <a:pPr indent="0" marL="0">
              <a:buNone/>
            </a:pPr>
            <a:r>
              <a:rPr lang="en-US" sz="1200" dirty="0">
                <a:solidFill>
                  <a:schemeClr val="tx2"/>
                </a:solidFill>
              </a:rPr>
              <a:t>un instantané n’est pas une sauvegarde</a:t>
            </a:r>
            <a:endParaRPr lang="en-US" sz="14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Cloner la VM</a:t>
            </a:r>
            <a:endParaRPr lang="en-US" sz="3000" dirty="0"/>
          </a:p>
        </p:txBody>
      </p:sp>
      <p:pic>
        <p:nvPicPr>
          <p:cNvPr id="3" name="Création du clone ubuntu-clone" descr="Création du clone ubuntu-clone">    </p:cNvPr>
          <p:cNvPicPr>
            <a:picLocks noChangeAspect="1"/>
          </p:cNvPicPr>
          <p:nvPr/>
        </p:nvPicPr>
        <p:blipFill>
          <a:blip r:embed="rId1"/>
          <a:stretch>
            <a:fillRect/>
          </a:stretch>
        </p:blipFill>
        <p:spPr>
          <a:xfrm>
            <a:off x="365760" y="1389532"/>
            <a:ext cx="5120640" cy="2935936"/>
          </a:xfrm>
          <a:prstGeom prst="rect">
            <a:avLst/>
          </a:prstGeom>
        </p:spPr>
      </p:pic>
      <p:sp>
        <p:nvSpPr>
          <p:cNvPr id="4" name="cadre Création du clone ubuntu-clone"/>
          <p:cNvSpPr/>
          <p:nvPr/>
        </p:nvSpPr>
        <p:spPr>
          <a:xfrm>
            <a:off x="365760" y="1389532"/>
            <a:ext cx="5120640" cy="2935936"/>
          </a:xfrm>
          <a:prstGeom prst="rect">
            <a:avLst/>
          </a:prstGeom>
          <a:ln w="12700">
            <a:solidFill>
              <a:schemeClr val="accent4"/>
            </a:solidFill>
            <a:prstDash val="solid"/>
          </a:ln>
        </p:spPr>
      </p:sp>
      <p:sp>
        <p:nvSpPr>
          <p:cNvPr id="5" name="carte Clone"/>
          <p:cNvSpPr/>
          <p:nvPr/>
        </p:nvSpPr>
        <p:spPr>
          <a:xfrm>
            <a:off x="5669280" y="960120"/>
            <a:ext cx="3108960" cy="850392"/>
          </a:xfrm>
          <a:prstGeom prst="roundRect">
            <a:avLst>
              <a:gd name="adj" fmla="val 8602"/>
            </a:avLst>
          </a:prstGeom>
          <a:solidFill>
            <a:schemeClr val="bg1"/>
          </a:solidFill>
          <a:ln w="19050">
            <a:solidFill>
              <a:schemeClr val="accent1"/>
            </a:solidFill>
            <a:prstDash val="solid"/>
          </a:ln>
        </p:spPr>
      </p:sp>
      <p:sp>
        <p:nvSpPr>
          <p:cNvPr id="6" name="repère Clone"/>
          <p:cNvSpPr/>
          <p:nvPr/>
        </p:nvSpPr>
        <p:spPr>
          <a:xfrm>
            <a:off x="5779008" y="1097280"/>
            <a:ext cx="64008" cy="576072"/>
          </a:xfrm>
          <a:prstGeom prst="rect">
            <a:avLst/>
          </a:prstGeom>
          <a:solidFill>
            <a:schemeClr val="accent1"/>
          </a:solidFill>
          <a:ln w="12700">
            <a:solidFill>
              <a:schemeClr val="accent1"/>
            </a:solidFill>
            <a:prstDash val="solid"/>
          </a:ln>
        </p:spPr>
      </p:sp>
      <p:sp>
        <p:nvSpPr>
          <p:cNvPr id="7" name="texte Clone"/>
          <p:cNvSpPr txBox="1"/>
          <p:nvPr/>
        </p:nvSpPr>
        <p:spPr>
          <a:xfrm>
            <a:off x="5943600" y="1005840"/>
            <a:ext cx="2743200" cy="758952"/>
          </a:xfrm>
          <a:prstGeom prst="rect">
            <a:avLst/>
          </a:prstGeom>
          <a:noFill/>
          <a:ln/>
        </p:spPr>
        <p:txBody>
          <a:bodyPr wrap="square" lIns="0" tIns="0" rIns="0" bIns="0" rtlCol="0" anchor="ctr"/>
          <a:lstStyle/>
          <a:p>
            <a:pPr indent="0" marL="0">
              <a:buNone/>
            </a:pPr>
            <a:r>
              <a:rPr lang="en-US" sz="1400" b="1" dirty="0">
                <a:solidFill>
                  <a:schemeClr val="tx1"/>
                </a:solidFill>
              </a:rPr>
              <a:t>Clone</a:t>
            </a:r>
            <a:endParaRPr lang="en-US" sz="1400" dirty="0"/>
          </a:p>
          <a:p>
            <a:pPr indent="0" marL="0">
              <a:buNone/>
            </a:pPr>
            <a:r>
              <a:rPr lang="en-US" sz="1200" dirty="0">
                <a:solidFill>
                  <a:schemeClr val="tx2"/>
                </a:solidFill>
              </a:rPr>
              <a:t>ubuntu-clone, port SSH 2223</a:t>
            </a:r>
            <a:endParaRPr lang="en-US" sz="1400" dirty="0"/>
          </a:p>
        </p:txBody>
      </p:sp>
      <p:sp>
        <p:nvSpPr>
          <p:cNvPr id="8" name="carte Identité"/>
          <p:cNvSpPr/>
          <p:nvPr/>
        </p:nvSpPr>
        <p:spPr>
          <a:xfrm>
            <a:off x="5669280" y="1901952"/>
            <a:ext cx="3108960" cy="850392"/>
          </a:xfrm>
          <a:prstGeom prst="roundRect">
            <a:avLst>
              <a:gd name="adj" fmla="val 8602"/>
            </a:avLst>
          </a:prstGeom>
          <a:solidFill>
            <a:schemeClr val="bg1"/>
          </a:solidFill>
          <a:ln w="19050">
            <a:solidFill>
              <a:schemeClr val="accent3"/>
            </a:solidFill>
            <a:prstDash val="solid"/>
          </a:ln>
        </p:spPr>
      </p:sp>
      <p:sp>
        <p:nvSpPr>
          <p:cNvPr id="9" name="repère Identité"/>
          <p:cNvSpPr/>
          <p:nvPr/>
        </p:nvSpPr>
        <p:spPr>
          <a:xfrm>
            <a:off x="5779008" y="2039112"/>
            <a:ext cx="64008" cy="576072"/>
          </a:xfrm>
          <a:prstGeom prst="rect">
            <a:avLst/>
          </a:prstGeom>
          <a:solidFill>
            <a:schemeClr val="accent3"/>
          </a:solidFill>
          <a:ln w="12700">
            <a:solidFill>
              <a:schemeClr val="accent3"/>
            </a:solidFill>
            <a:prstDash val="solid"/>
          </a:ln>
        </p:spPr>
      </p:sp>
      <p:sp>
        <p:nvSpPr>
          <p:cNvPr id="10" name="texte Identité"/>
          <p:cNvSpPr txBox="1"/>
          <p:nvPr/>
        </p:nvSpPr>
        <p:spPr>
          <a:xfrm>
            <a:off x="5943600" y="1947672"/>
            <a:ext cx="2743200" cy="758952"/>
          </a:xfrm>
          <a:prstGeom prst="rect">
            <a:avLst/>
          </a:prstGeom>
          <a:noFill/>
          <a:ln/>
        </p:spPr>
        <p:txBody>
          <a:bodyPr wrap="square" lIns="0" tIns="0" rIns="0" bIns="0" rtlCol="0" anchor="ctr"/>
          <a:lstStyle/>
          <a:p>
            <a:pPr indent="0" marL="0">
              <a:buNone/>
            </a:pPr>
            <a:r>
              <a:rPr lang="en-US" sz="1400" b="1" dirty="0">
                <a:solidFill>
                  <a:schemeClr val="tx1"/>
                </a:solidFill>
              </a:rPr>
              <a:t>Identité</a:t>
            </a:r>
            <a:endParaRPr lang="en-US" sz="1400" dirty="0"/>
          </a:p>
          <a:p>
            <a:pPr indent="0" marL="0">
              <a:buNone/>
            </a:pPr>
            <a:r>
              <a:rPr lang="en-US" sz="1200" dirty="0">
                <a:solidFill>
                  <a:schemeClr val="tx2"/>
                </a:solidFill>
              </a:rPr>
              <a:t>nom d’hôte changé en ubuntu-clone</a:t>
            </a:r>
            <a:endParaRPr lang="en-US" sz="1400" dirty="0"/>
          </a:p>
        </p:txBody>
      </p:sp>
      <p:sp>
        <p:nvSpPr>
          <p:cNvPr id="11" name="carte Espace"/>
          <p:cNvSpPr/>
          <p:nvPr/>
        </p:nvSpPr>
        <p:spPr>
          <a:xfrm>
            <a:off x="5669280" y="2843784"/>
            <a:ext cx="3108960" cy="850392"/>
          </a:xfrm>
          <a:prstGeom prst="roundRect">
            <a:avLst>
              <a:gd name="adj" fmla="val 8602"/>
            </a:avLst>
          </a:prstGeom>
          <a:solidFill>
            <a:schemeClr val="bg1"/>
          </a:solidFill>
          <a:ln w="19050">
            <a:solidFill>
              <a:schemeClr val="accent1"/>
            </a:solidFill>
            <a:prstDash val="solid"/>
          </a:ln>
        </p:spPr>
      </p:sp>
      <p:sp>
        <p:nvSpPr>
          <p:cNvPr id="12" name="repère Espace"/>
          <p:cNvSpPr/>
          <p:nvPr/>
        </p:nvSpPr>
        <p:spPr>
          <a:xfrm>
            <a:off x="5779008" y="2980944"/>
            <a:ext cx="64008" cy="576072"/>
          </a:xfrm>
          <a:prstGeom prst="rect">
            <a:avLst/>
          </a:prstGeom>
          <a:solidFill>
            <a:schemeClr val="accent1"/>
          </a:solidFill>
          <a:ln w="12700">
            <a:solidFill>
              <a:schemeClr val="accent1"/>
            </a:solidFill>
            <a:prstDash val="solid"/>
          </a:ln>
        </p:spPr>
      </p:sp>
      <p:sp>
        <p:nvSpPr>
          <p:cNvPr id="13" name="texte Espace"/>
          <p:cNvSpPr txBox="1"/>
          <p:nvPr/>
        </p:nvSpPr>
        <p:spPr>
          <a:xfrm>
            <a:off x="5943600" y="2889504"/>
            <a:ext cx="2743200" cy="758952"/>
          </a:xfrm>
          <a:prstGeom prst="rect">
            <a:avLst/>
          </a:prstGeom>
          <a:noFill/>
          <a:ln/>
        </p:spPr>
        <p:txBody>
          <a:bodyPr wrap="square" lIns="0" tIns="0" rIns="0" bIns="0" rtlCol="0" anchor="ctr"/>
          <a:lstStyle/>
          <a:p>
            <a:pPr indent="0" marL="0">
              <a:buNone/>
            </a:pPr>
            <a:r>
              <a:rPr lang="en-US" sz="1400" b="1" dirty="0">
                <a:solidFill>
                  <a:schemeClr val="tx1"/>
                </a:solidFill>
              </a:rPr>
              <a:t>Espace</a:t>
            </a:r>
            <a:endParaRPr lang="en-US" sz="1400" dirty="0"/>
          </a:p>
          <a:p>
            <a:pPr indent="0" marL="0">
              <a:buNone/>
            </a:pPr>
            <a:r>
              <a:rPr lang="en-US" sz="1200" dirty="0">
                <a:solidFill>
                  <a:schemeClr val="tx2"/>
                </a:solidFill>
              </a:rPr>
              <a:t>clone 6,24 Go · original 7,17 Go</a:t>
            </a:r>
            <a:endParaRPr lang="en-US" sz="1400" dirty="0"/>
          </a:p>
        </p:txBody>
      </p:sp>
      <p:sp>
        <p:nvSpPr>
          <p:cNvPr id="14" name="carte Nettoyage"/>
          <p:cNvSpPr/>
          <p:nvPr/>
        </p:nvSpPr>
        <p:spPr>
          <a:xfrm>
            <a:off x="5669280" y="3785616"/>
            <a:ext cx="3108960" cy="850392"/>
          </a:xfrm>
          <a:prstGeom prst="roundRect">
            <a:avLst>
              <a:gd name="adj" fmla="val 8602"/>
            </a:avLst>
          </a:prstGeom>
          <a:solidFill>
            <a:schemeClr val="bg1"/>
          </a:solidFill>
          <a:ln w="19050">
            <a:solidFill>
              <a:schemeClr val="accent3"/>
            </a:solidFill>
            <a:prstDash val="solid"/>
          </a:ln>
        </p:spPr>
      </p:sp>
      <p:sp>
        <p:nvSpPr>
          <p:cNvPr id="15" name="repère Nettoyage"/>
          <p:cNvSpPr/>
          <p:nvPr/>
        </p:nvSpPr>
        <p:spPr>
          <a:xfrm>
            <a:off x="5779008" y="3922776"/>
            <a:ext cx="64008" cy="576072"/>
          </a:xfrm>
          <a:prstGeom prst="rect">
            <a:avLst/>
          </a:prstGeom>
          <a:solidFill>
            <a:schemeClr val="accent3"/>
          </a:solidFill>
          <a:ln w="12700">
            <a:solidFill>
              <a:schemeClr val="accent3"/>
            </a:solidFill>
            <a:prstDash val="solid"/>
          </a:ln>
        </p:spPr>
      </p:sp>
      <p:sp>
        <p:nvSpPr>
          <p:cNvPr id="16" name="texte Nettoyage"/>
          <p:cNvSpPr txBox="1"/>
          <p:nvPr/>
        </p:nvSpPr>
        <p:spPr>
          <a:xfrm>
            <a:off x="5943600" y="3831336"/>
            <a:ext cx="2743200" cy="758952"/>
          </a:xfrm>
          <a:prstGeom prst="rect">
            <a:avLst/>
          </a:prstGeom>
          <a:noFill/>
          <a:ln/>
        </p:spPr>
        <p:txBody>
          <a:bodyPr wrap="square" lIns="0" tIns="0" rIns="0" bIns="0" rtlCol="0" anchor="ctr"/>
          <a:lstStyle/>
          <a:p>
            <a:pPr indent="0" marL="0">
              <a:buNone/>
            </a:pPr>
            <a:r>
              <a:rPr lang="en-US" sz="1400" b="1" dirty="0">
                <a:solidFill>
                  <a:schemeClr val="tx1"/>
                </a:solidFill>
              </a:rPr>
              <a:t>Nettoyage</a:t>
            </a:r>
            <a:endParaRPr lang="en-US" sz="1400" dirty="0"/>
          </a:p>
          <a:p>
            <a:pPr indent="0" marL="0">
              <a:buNone/>
            </a:pPr>
            <a:r>
              <a:rPr lang="en-US" sz="1200" dirty="0">
                <a:solidFill>
                  <a:schemeClr val="tx2"/>
                </a:solidFill>
              </a:rPr>
              <a:t>clone supprimé, ubuntu-srv conservée</a:t>
            </a:r>
            <a:endParaRPr lang="en-US" sz="14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365760" y="182880"/>
            <a:ext cx="8412480" cy="640080"/>
          </a:xfrm>
          <a:prstGeom prst="rect">
            <a:avLst/>
          </a:prstGeom>
          <a:noFill/>
          <a:ln/>
        </p:spPr>
        <p:txBody>
          <a:bodyPr wrap="square" lIns="0" tIns="0" rIns="0" bIns="0" rtlCol="0" anchor="ctr"/>
          <a:lstStyle/>
          <a:p>
            <a:pPr indent="0" marL="0">
              <a:buNone/>
            </a:pPr>
            <a:r>
              <a:rPr lang="en-US" sz="3000" b="1" dirty="0">
                <a:solidFill>
                  <a:schemeClr val="tx1"/>
                </a:solidFill>
              </a:rPr>
              <a:t>Difficultés rencontrées et solutions</a:t>
            </a:r>
            <a:endParaRPr lang="en-US" sz="3000" dirty="0"/>
          </a:p>
        </p:txBody>
      </p:sp>
      <p:sp>
        <p:nvSpPr>
          <p:cNvPr id="3" name="carte Mot de passe SSH refusé"/>
          <p:cNvSpPr/>
          <p:nvPr/>
        </p:nvSpPr>
        <p:spPr>
          <a:xfrm>
            <a:off x="365760" y="1005840"/>
            <a:ext cx="4114800" cy="1554480"/>
          </a:xfrm>
          <a:prstGeom prst="roundRect">
            <a:avLst>
              <a:gd name="adj" fmla="val 4706"/>
            </a:avLst>
          </a:prstGeom>
          <a:solidFill>
            <a:schemeClr val="bg1"/>
          </a:solidFill>
          <a:ln w="19050">
            <a:solidFill>
              <a:schemeClr val="accent6"/>
            </a:solidFill>
            <a:prstDash val="solid"/>
          </a:ln>
        </p:spPr>
      </p:sp>
      <p:sp>
        <p:nvSpPr>
          <p:cNvPr id="4" name="repère Mot de passe SSH refusé"/>
          <p:cNvSpPr/>
          <p:nvPr/>
        </p:nvSpPr>
        <p:spPr>
          <a:xfrm>
            <a:off x="475488" y="1143000"/>
            <a:ext cx="64008" cy="1280160"/>
          </a:xfrm>
          <a:prstGeom prst="rect">
            <a:avLst/>
          </a:prstGeom>
          <a:solidFill>
            <a:schemeClr val="accent6"/>
          </a:solidFill>
          <a:ln w="12700">
            <a:solidFill>
              <a:schemeClr val="accent6"/>
            </a:solidFill>
            <a:prstDash val="solid"/>
          </a:ln>
        </p:spPr>
      </p:sp>
      <p:sp>
        <p:nvSpPr>
          <p:cNvPr id="5" name="texte Mot de passe SSH refusé"/>
          <p:cNvSpPr txBox="1"/>
          <p:nvPr/>
        </p:nvSpPr>
        <p:spPr>
          <a:xfrm>
            <a:off x="640080" y="1051560"/>
            <a:ext cx="3749040" cy="1463040"/>
          </a:xfrm>
          <a:prstGeom prst="rect">
            <a:avLst/>
          </a:prstGeom>
          <a:noFill/>
          <a:ln/>
        </p:spPr>
        <p:txBody>
          <a:bodyPr wrap="square" lIns="0" tIns="0" rIns="0" bIns="0" rtlCol="0" anchor="ctr"/>
          <a:lstStyle/>
          <a:p>
            <a:pPr indent="0" marL="0">
              <a:buNone/>
            </a:pPr>
            <a:r>
              <a:rPr lang="en-US" sz="1600" b="1" dirty="0">
                <a:solidFill>
                  <a:schemeClr val="tx1"/>
                </a:solidFill>
              </a:rPr>
              <a:t>Mot de passe SSH refusé</a:t>
            </a:r>
            <a:endParaRPr lang="en-US" sz="1600" dirty="0"/>
          </a:p>
          <a:p>
            <a:pPr indent="0" marL="0">
              <a:buNone/>
            </a:pPr>
            <a:r>
              <a:rPr lang="en-US" sz="1400" dirty="0">
                <a:solidFill>
                  <a:schemeClr val="tx2"/>
                </a:solidFill>
              </a:rPr>
              <a:t>clavier différent : mot de passe refait avec passwd</a:t>
            </a:r>
            <a:endParaRPr lang="en-US" sz="1600" dirty="0"/>
          </a:p>
        </p:txBody>
      </p:sp>
      <p:sp>
        <p:nvSpPr>
          <p:cNvPr id="6" name="carte Commandes sur Windows"/>
          <p:cNvSpPr/>
          <p:nvPr/>
        </p:nvSpPr>
        <p:spPr>
          <a:xfrm>
            <a:off x="4663440" y="1005840"/>
            <a:ext cx="4114800" cy="1554480"/>
          </a:xfrm>
          <a:prstGeom prst="roundRect">
            <a:avLst>
              <a:gd name="adj" fmla="val 4706"/>
            </a:avLst>
          </a:prstGeom>
          <a:solidFill>
            <a:schemeClr val="bg1"/>
          </a:solidFill>
          <a:ln w="19050">
            <a:solidFill>
              <a:schemeClr val="accent2"/>
            </a:solidFill>
            <a:prstDash val="solid"/>
          </a:ln>
        </p:spPr>
      </p:sp>
      <p:sp>
        <p:nvSpPr>
          <p:cNvPr id="7" name="repère Commandes sur Windows"/>
          <p:cNvSpPr/>
          <p:nvPr/>
        </p:nvSpPr>
        <p:spPr>
          <a:xfrm>
            <a:off x="4773168" y="1143000"/>
            <a:ext cx="64008" cy="1280160"/>
          </a:xfrm>
          <a:prstGeom prst="rect">
            <a:avLst/>
          </a:prstGeom>
          <a:solidFill>
            <a:schemeClr val="accent2"/>
          </a:solidFill>
          <a:ln w="12700">
            <a:solidFill>
              <a:schemeClr val="accent2"/>
            </a:solidFill>
            <a:prstDash val="solid"/>
          </a:ln>
        </p:spPr>
      </p:sp>
      <p:sp>
        <p:nvSpPr>
          <p:cNvPr id="8" name="texte Commandes sur Windows"/>
          <p:cNvSpPr txBox="1"/>
          <p:nvPr/>
        </p:nvSpPr>
        <p:spPr>
          <a:xfrm>
            <a:off x="4937760" y="1051560"/>
            <a:ext cx="3749040" cy="1463040"/>
          </a:xfrm>
          <a:prstGeom prst="rect">
            <a:avLst/>
          </a:prstGeom>
          <a:noFill/>
          <a:ln/>
        </p:spPr>
        <p:txBody>
          <a:bodyPr wrap="square" lIns="0" tIns="0" rIns="0" bIns="0" rtlCol="0" anchor="ctr"/>
          <a:lstStyle/>
          <a:p>
            <a:pPr indent="0" marL="0">
              <a:buNone/>
            </a:pPr>
            <a:r>
              <a:rPr lang="en-US" sz="1600" b="1" dirty="0">
                <a:solidFill>
                  <a:schemeClr val="tx1"/>
                </a:solidFill>
              </a:rPr>
              <a:t>Commandes sur Windows</a:t>
            </a:r>
            <a:endParaRPr lang="en-US" sz="1600" dirty="0"/>
          </a:p>
          <a:p>
            <a:pPr indent="0" marL="0">
              <a:buNone/>
            </a:pPr>
            <a:r>
              <a:rPr lang="en-US" sz="1400" dirty="0">
                <a:solidFill>
                  <a:schemeClr val="tx2"/>
                </a:solidFill>
              </a:rPr>
              <a:t>« sudo » introuvable : toujours regarder l’invite</a:t>
            </a:r>
            <a:endParaRPr lang="en-US" sz="1600" dirty="0"/>
          </a:p>
        </p:txBody>
      </p:sp>
      <p:sp>
        <p:nvSpPr>
          <p:cNvPr id="9" name="carte Suppression du clone refusée"/>
          <p:cNvSpPr/>
          <p:nvPr/>
        </p:nvSpPr>
        <p:spPr>
          <a:xfrm>
            <a:off x="365760" y="2743200"/>
            <a:ext cx="4114800" cy="1554480"/>
          </a:xfrm>
          <a:prstGeom prst="roundRect">
            <a:avLst>
              <a:gd name="adj" fmla="val 4706"/>
            </a:avLst>
          </a:prstGeom>
          <a:solidFill>
            <a:schemeClr val="bg1"/>
          </a:solidFill>
          <a:ln w="19050">
            <a:solidFill>
              <a:schemeClr val="accent3"/>
            </a:solidFill>
            <a:prstDash val="solid"/>
          </a:ln>
        </p:spPr>
      </p:sp>
      <p:sp>
        <p:nvSpPr>
          <p:cNvPr id="10" name="repère Suppression du clone refusée"/>
          <p:cNvSpPr/>
          <p:nvPr/>
        </p:nvSpPr>
        <p:spPr>
          <a:xfrm>
            <a:off x="475488" y="2880360"/>
            <a:ext cx="64008" cy="1280160"/>
          </a:xfrm>
          <a:prstGeom prst="rect">
            <a:avLst/>
          </a:prstGeom>
          <a:solidFill>
            <a:schemeClr val="accent3"/>
          </a:solidFill>
          <a:ln w="12700">
            <a:solidFill>
              <a:schemeClr val="accent3"/>
            </a:solidFill>
            <a:prstDash val="solid"/>
          </a:ln>
        </p:spPr>
      </p:sp>
      <p:sp>
        <p:nvSpPr>
          <p:cNvPr id="11" name="texte Suppression du clone refusée"/>
          <p:cNvSpPr txBox="1"/>
          <p:nvPr/>
        </p:nvSpPr>
        <p:spPr>
          <a:xfrm>
            <a:off x="640080" y="2788920"/>
            <a:ext cx="3749040" cy="1463040"/>
          </a:xfrm>
          <a:prstGeom prst="rect">
            <a:avLst/>
          </a:prstGeom>
          <a:noFill/>
          <a:ln/>
        </p:spPr>
        <p:txBody>
          <a:bodyPr wrap="square" lIns="0" tIns="0" rIns="0" bIns="0" rtlCol="0" anchor="ctr"/>
          <a:lstStyle/>
          <a:p>
            <a:pPr indent="0" marL="0">
              <a:buNone/>
            </a:pPr>
            <a:r>
              <a:rPr lang="en-US" sz="1600" b="1" dirty="0">
                <a:solidFill>
                  <a:schemeClr val="tx1"/>
                </a:solidFill>
              </a:rPr>
              <a:t>Suppression du clone refusée</a:t>
            </a:r>
            <a:endParaRPr lang="en-US" sz="1600" dirty="0"/>
          </a:p>
          <a:p>
            <a:pPr indent="0" marL="0">
              <a:buNone/>
            </a:pPr>
            <a:r>
              <a:rPr lang="en-US" sz="1400" dirty="0">
                <a:solidFill>
                  <a:schemeClr val="tx2"/>
                </a:solidFill>
              </a:rPr>
              <a:t>VM encore verrouillée : attendre son arrêt complet</a:t>
            </a:r>
            <a:endParaRPr lang="en-US" sz="1600" dirty="0"/>
          </a:p>
        </p:txBody>
      </p:sp>
      <p:sp>
        <p:nvSpPr>
          <p:cNvPr id="12" name="carte Règle nommée « Rule 1 »"/>
          <p:cNvSpPr/>
          <p:nvPr/>
        </p:nvSpPr>
        <p:spPr>
          <a:xfrm>
            <a:off x="4663440" y="2743200"/>
            <a:ext cx="4114800" cy="1554480"/>
          </a:xfrm>
          <a:prstGeom prst="roundRect">
            <a:avLst>
              <a:gd name="adj" fmla="val 4706"/>
            </a:avLst>
          </a:prstGeom>
          <a:solidFill>
            <a:schemeClr val="bg1"/>
          </a:solidFill>
          <a:ln w="19050">
            <a:solidFill>
              <a:schemeClr val="accent1"/>
            </a:solidFill>
            <a:prstDash val="solid"/>
          </a:ln>
        </p:spPr>
      </p:sp>
      <p:sp>
        <p:nvSpPr>
          <p:cNvPr id="13" name="repère Règle nommée « Rule 1 »"/>
          <p:cNvSpPr/>
          <p:nvPr/>
        </p:nvSpPr>
        <p:spPr>
          <a:xfrm>
            <a:off x="4773168" y="2880360"/>
            <a:ext cx="64008" cy="1280160"/>
          </a:xfrm>
          <a:prstGeom prst="rect">
            <a:avLst/>
          </a:prstGeom>
          <a:solidFill>
            <a:schemeClr val="accent1"/>
          </a:solidFill>
          <a:ln w="12700">
            <a:solidFill>
              <a:schemeClr val="accent1"/>
            </a:solidFill>
            <a:prstDash val="solid"/>
          </a:ln>
        </p:spPr>
      </p:sp>
      <p:sp>
        <p:nvSpPr>
          <p:cNvPr id="14" name="texte Règle nommée « Rule 1 »"/>
          <p:cNvSpPr txBox="1"/>
          <p:nvPr/>
        </p:nvSpPr>
        <p:spPr>
          <a:xfrm>
            <a:off x="4937760" y="2788920"/>
            <a:ext cx="3749040" cy="1463040"/>
          </a:xfrm>
          <a:prstGeom prst="rect">
            <a:avLst/>
          </a:prstGeom>
          <a:noFill/>
          <a:ln/>
        </p:spPr>
        <p:txBody>
          <a:bodyPr wrap="square" lIns="0" tIns="0" rIns="0" bIns="0" rtlCol="0" anchor="ctr"/>
          <a:lstStyle/>
          <a:p>
            <a:pPr indent="0" marL="0">
              <a:buNone/>
            </a:pPr>
            <a:r>
              <a:rPr lang="en-US" sz="1600" b="1" dirty="0">
                <a:solidFill>
                  <a:schemeClr val="tx1"/>
                </a:solidFill>
              </a:rPr>
              <a:t>Règle nommée « Rule 1 »</a:t>
            </a:r>
            <a:endParaRPr lang="en-US" sz="1600" dirty="0"/>
          </a:p>
          <a:p>
            <a:pPr indent="0" marL="0">
              <a:buNone/>
            </a:pPr>
            <a:r>
              <a:rPr lang="en-US" sz="1400" dirty="0">
                <a:solidFill>
                  <a:schemeClr val="tx2"/>
                </a:solidFill>
              </a:rPr>
              <a:t>renommée « ssh » pour la suite du TP</a:t>
            </a:r>
            <a:endParaRPr lang="en-US" sz="16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chemeClr val="bg1"/>
                </a:solidFill>
              </a:rPr>
              <a:t>Conclusion</a:t>
            </a:r>
            <a:endParaRPr lang="en-US" sz="3400" dirty="0"/>
          </a:p>
        </p:txBody>
      </p:sp>
      <p:sp>
        <p:nvSpPr>
          <p:cNvPr id="3" name="c Hyperviseur"/>
          <p:cNvSpPr/>
          <p:nvPr/>
        </p:nvSpPr>
        <p:spPr>
          <a:xfrm>
            <a:off x="548640" y="1371600"/>
            <a:ext cx="3931920" cy="1188720"/>
          </a:xfrm>
          <a:prstGeom prst="roundRect">
            <a:avLst>
              <a:gd name="adj" fmla="val 6154"/>
            </a:avLst>
          </a:prstGeom>
          <a:solidFill>
            <a:schemeClr val="tx2"/>
          </a:solidFill>
          <a:ln w="19050">
            <a:solidFill>
              <a:schemeClr val="accent1"/>
            </a:solidFill>
            <a:prstDash val="solid"/>
          </a:ln>
        </p:spPr>
      </p:sp>
      <p:sp>
        <p:nvSpPr>
          <p:cNvPr id="4" name="tc Hyperviseur"/>
          <p:cNvSpPr txBox="1"/>
          <p:nvPr/>
        </p:nvSpPr>
        <p:spPr>
          <a:xfrm>
            <a:off x="731520" y="1371600"/>
            <a:ext cx="3566160" cy="1188720"/>
          </a:xfrm>
          <a:prstGeom prst="rect">
            <a:avLst/>
          </a:prstGeom>
          <a:noFill/>
          <a:ln/>
        </p:spPr>
        <p:txBody>
          <a:bodyPr wrap="square" lIns="0" tIns="0" rIns="0" bIns="0" rtlCol="0" anchor="ctr"/>
          <a:lstStyle/>
          <a:p>
            <a:pPr indent="0" marL="0">
              <a:buNone/>
            </a:pPr>
            <a:r>
              <a:rPr lang="en-US" sz="1700" b="1" dirty="0">
                <a:solidFill>
                  <a:schemeClr val="accent1"/>
                </a:solidFill>
              </a:rPr>
              <a:t>Hyperviseur</a:t>
            </a:r>
            <a:endParaRPr lang="en-US" sz="1700" dirty="0"/>
          </a:p>
          <a:p>
            <a:pPr indent="0" marL="0">
              <a:buNone/>
            </a:pPr>
            <a:r>
              <a:rPr lang="en-US" sz="1400" dirty="0">
                <a:solidFill>
                  <a:schemeClr val="bg1"/>
                </a:solidFill>
              </a:rPr>
              <a:t>VirtualBox crée et gère des VM sur mon PC</a:t>
            </a:r>
            <a:endParaRPr lang="en-US" sz="1700" dirty="0"/>
          </a:p>
        </p:txBody>
      </p:sp>
      <p:sp>
        <p:nvSpPr>
          <p:cNvPr id="5" name="c Accès distant"/>
          <p:cNvSpPr/>
          <p:nvPr/>
        </p:nvSpPr>
        <p:spPr>
          <a:xfrm>
            <a:off x="4663440" y="1371600"/>
            <a:ext cx="3931920" cy="1188720"/>
          </a:xfrm>
          <a:prstGeom prst="roundRect">
            <a:avLst>
              <a:gd name="adj" fmla="val 6154"/>
            </a:avLst>
          </a:prstGeom>
          <a:solidFill>
            <a:schemeClr val="tx2"/>
          </a:solidFill>
          <a:ln w="19050">
            <a:solidFill>
              <a:schemeClr val="accent1"/>
            </a:solidFill>
            <a:prstDash val="solid"/>
          </a:ln>
        </p:spPr>
      </p:sp>
      <p:sp>
        <p:nvSpPr>
          <p:cNvPr id="6" name="tc Accès distant"/>
          <p:cNvSpPr txBox="1"/>
          <p:nvPr/>
        </p:nvSpPr>
        <p:spPr>
          <a:xfrm>
            <a:off x="4846320" y="1371600"/>
            <a:ext cx="3566160" cy="1188720"/>
          </a:xfrm>
          <a:prstGeom prst="rect">
            <a:avLst/>
          </a:prstGeom>
          <a:noFill/>
          <a:ln/>
        </p:spPr>
        <p:txBody>
          <a:bodyPr wrap="square" lIns="0" tIns="0" rIns="0" bIns="0" rtlCol="0" anchor="ctr"/>
          <a:lstStyle/>
          <a:p>
            <a:pPr indent="0" marL="0">
              <a:buNone/>
            </a:pPr>
            <a:r>
              <a:rPr lang="en-US" sz="1700" b="1" dirty="0">
                <a:solidFill>
                  <a:schemeClr val="accent1"/>
                </a:solidFill>
              </a:rPr>
              <a:t>Accès distant</a:t>
            </a:r>
            <a:endParaRPr lang="en-US" sz="1700" dirty="0"/>
          </a:p>
          <a:p>
            <a:pPr indent="0" marL="0">
              <a:buNone/>
            </a:pPr>
            <a:r>
              <a:rPr lang="en-US" sz="1400" dirty="0">
                <a:solidFill>
                  <a:schemeClr val="bg1"/>
                </a:solidFill>
              </a:rPr>
              <a:t>SSH, redirection de port, clé</a:t>
            </a:r>
            <a:endParaRPr lang="en-US" sz="1700" dirty="0"/>
          </a:p>
        </p:txBody>
      </p:sp>
      <p:sp>
        <p:nvSpPr>
          <p:cNvPr id="7" name="c Sécurité"/>
          <p:cNvSpPr/>
          <p:nvPr/>
        </p:nvSpPr>
        <p:spPr>
          <a:xfrm>
            <a:off x="548640" y="2743200"/>
            <a:ext cx="3931920" cy="1188720"/>
          </a:xfrm>
          <a:prstGeom prst="roundRect">
            <a:avLst>
              <a:gd name="adj" fmla="val 6154"/>
            </a:avLst>
          </a:prstGeom>
          <a:solidFill>
            <a:schemeClr val="tx2"/>
          </a:solidFill>
          <a:ln w="19050">
            <a:solidFill>
              <a:schemeClr val="accent1"/>
            </a:solidFill>
            <a:prstDash val="solid"/>
          </a:ln>
        </p:spPr>
      </p:sp>
      <p:sp>
        <p:nvSpPr>
          <p:cNvPr id="8" name="tc Sécurité"/>
          <p:cNvSpPr txBox="1"/>
          <p:nvPr/>
        </p:nvSpPr>
        <p:spPr>
          <a:xfrm>
            <a:off x="731520" y="2743200"/>
            <a:ext cx="3566160" cy="1188720"/>
          </a:xfrm>
          <a:prstGeom prst="rect">
            <a:avLst/>
          </a:prstGeom>
          <a:noFill/>
          <a:ln/>
        </p:spPr>
        <p:txBody>
          <a:bodyPr wrap="square" lIns="0" tIns="0" rIns="0" bIns="0" rtlCol="0" anchor="ctr"/>
          <a:lstStyle/>
          <a:p>
            <a:pPr indent="0" marL="0">
              <a:buNone/>
            </a:pPr>
            <a:r>
              <a:rPr lang="en-US" sz="1700" b="1" dirty="0">
                <a:solidFill>
                  <a:schemeClr val="accent1"/>
                </a:solidFill>
              </a:rPr>
              <a:t>Sécurité</a:t>
            </a:r>
            <a:endParaRPr lang="en-US" sz="1700" dirty="0"/>
          </a:p>
          <a:p>
            <a:pPr indent="0" marL="0">
              <a:buNone/>
            </a:pPr>
            <a:r>
              <a:rPr lang="en-US" sz="1400" dirty="0">
                <a:solidFill>
                  <a:schemeClr val="bg1"/>
                </a:solidFill>
              </a:rPr>
              <a:t>vérifier l’ISO, préférer les clés</a:t>
            </a:r>
            <a:endParaRPr lang="en-US" sz="1700" dirty="0"/>
          </a:p>
        </p:txBody>
      </p:sp>
      <p:sp>
        <p:nvSpPr>
          <p:cNvPr id="9" name="c Gestion"/>
          <p:cNvSpPr/>
          <p:nvPr/>
        </p:nvSpPr>
        <p:spPr>
          <a:xfrm>
            <a:off x="4663440" y="2743200"/>
            <a:ext cx="3931920" cy="1188720"/>
          </a:xfrm>
          <a:prstGeom prst="roundRect">
            <a:avLst>
              <a:gd name="adj" fmla="val 6154"/>
            </a:avLst>
          </a:prstGeom>
          <a:solidFill>
            <a:schemeClr val="tx2"/>
          </a:solidFill>
          <a:ln w="19050">
            <a:solidFill>
              <a:schemeClr val="accent1"/>
            </a:solidFill>
            <a:prstDash val="solid"/>
          </a:ln>
        </p:spPr>
      </p:sp>
      <p:sp>
        <p:nvSpPr>
          <p:cNvPr id="10" name="tc Gestion"/>
          <p:cNvSpPr txBox="1"/>
          <p:nvPr/>
        </p:nvSpPr>
        <p:spPr>
          <a:xfrm>
            <a:off x="4846320" y="2743200"/>
            <a:ext cx="3566160" cy="1188720"/>
          </a:xfrm>
          <a:prstGeom prst="rect">
            <a:avLst/>
          </a:prstGeom>
          <a:noFill/>
          <a:ln/>
        </p:spPr>
        <p:txBody>
          <a:bodyPr wrap="square" lIns="0" tIns="0" rIns="0" bIns="0" rtlCol="0" anchor="ctr"/>
          <a:lstStyle/>
          <a:p>
            <a:pPr indent="0" marL="0">
              <a:buNone/>
            </a:pPr>
            <a:r>
              <a:rPr lang="en-US" sz="1700" b="1" dirty="0">
                <a:solidFill>
                  <a:schemeClr val="accent1"/>
                </a:solidFill>
              </a:rPr>
              <a:t>Gestion</a:t>
            </a:r>
            <a:endParaRPr lang="en-US" sz="1700" dirty="0"/>
          </a:p>
          <a:p>
            <a:pPr indent="0" marL="0">
              <a:buNone/>
            </a:pPr>
            <a:r>
              <a:rPr lang="en-US" sz="1400" dirty="0">
                <a:solidFill>
                  <a:schemeClr val="bg1"/>
                </a:solidFill>
              </a:rPr>
              <a:t>instantané et clone, comme dans le cloud</a:t>
            </a:r>
            <a:endParaRPr lang="en-US" sz="1700" dirty="0"/>
          </a:p>
        </p:txBody>
      </p:sp>
      <p:sp>
        <p:nvSpPr>
          <p:cNvPr id="11" name="merci"/>
          <p:cNvSpPr txBox="1"/>
          <p:nvPr/>
        </p:nvSpPr>
        <p:spPr>
          <a:xfrm>
            <a:off x="548640" y="4251960"/>
            <a:ext cx="8046720" cy="457200"/>
          </a:xfrm>
          <a:prstGeom prst="rect">
            <a:avLst/>
          </a:prstGeom>
          <a:noFill/>
          <a:ln/>
        </p:spPr>
        <p:txBody>
          <a:bodyPr wrap="square" lIns="0" tIns="0" rIns="0" bIns="0" rtlCol="0" anchor="ctr"/>
          <a:lstStyle/>
          <a:p>
            <a:pPr indent="0" marL="0">
              <a:buNone/>
            </a:pPr>
            <a:r>
              <a:rPr lang="en-US" sz="2000" b="1" dirty="0">
                <a:solidFill>
                  <a:schemeClr val="bg1"/>
                </a:solidFill>
              </a:rPr>
              <a:t>Merci de votre attention · Questions ?</a:t>
            </a:r>
            <a:endParaRPr lang="en-US" sz="2000" dirty="0"/>
          </a:p>
        </p:txBody>
      </p:sp>
    </p:spTree>
  </p:cSld>
  <p:clrMapOvr>
    <a:masterClrMapping/>
  </p:clrMapOvr>
</p:sld>
</file>

<file path=ppt/theme/theme1.xml><?xml version="1.0" encoding="utf-8"?>
<a:theme xmlns:a="http://schemas.openxmlformats.org/drawingml/2006/main" name="TP Cloud">
  <a:themeElements>
    <a:clrScheme name="TP Cloud">
      <a:dk1>
        <a:srgbClr val="0B2545"/>
      </a:dk1>
      <a:lt1>
        <a:srgbClr val="FFFFFF"/>
      </a:lt1>
      <a:dk2>
        <a:srgbClr val="13315C"/>
      </a:dk2>
      <a:lt2>
        <a:srgbClr val="F2F6FA"/>
      </a:lt2>
      <a:accent1>
        <a:srgbClr val="13A89E"/>
      </a:accent1>
      <a:accent2>
        <a:srgbClr val="E8590C"/>
      </a:accent2>
      <a:accent3>
        <a:srgbClr val="3E7CB1"/>
      </a:accent3>
      <a:accent4>
        <a:srgbClr val="8DA9C4"/>
      </a:accent4>
      <a:accent5>
        <a:srgbClr val="2E933C"/>
      </a:accent5>
      <a:accent6>
        <a:srgbClr val="C0392B"/>
      </a:accent6>
      <a:hlink>
        <a:srgbClr val="3E7CB1"/>
      </a:hlink>
      <a:folHlink>
        <a:srgbClr val="8DA9C4"/>
      </a:folHlink>
    </a:clrScheme>
    <a:fontScheme name="TP Clou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TP1 - VirtualBox et VM Ubuntu</dc:title>
  <dc:subject>PptxGenJS Presentation</dc:subject>
  <dc:creator>TRA BI TRA Christian David</dc:creator>
  <cp:lastModifiedBy>TRA BI TRA Christian David</cp:lastModifiedBy>
  <cp:revision>1</cp:revision>
  <dcterms:created xsi:type="dcterms:W3CDTF">2026-10-14T20:44:56Z</dcterms:created>
  <dcterms:modified xsi:type="dcterms:W3CDTF">2026-10-14T20:44:56Z</dcterms:modified>
</cp:coreProperties>
</file>